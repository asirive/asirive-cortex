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1"/>
          <p:cNvSpPr/>
          <p:nvPr/>
        </p:nvSpPr>
        <p:spPr>
          <a:xfrm>
            <a:off x="634984" y="279400"/>
            <a:ext cx="241294" cy="2413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3" name="decor-12"/>
          <p:cNvSpPr/>
          <p:nvPr/>
        </p:nvSpPr>
        <p:spPr>
          <a:xfrm>
            <a:off x="634984" y="6191250"/>
            <a:ext cx="10921727" cy="285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83000"/>
            <a:ext cx="3365416" cy="3175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6700"/>
            <a:ext cx="2971726" cy="27813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0400"/>
            <a:ext cx="2578036" cy="23876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64100"/>
            <a:ext cx="2184345" cy="19939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7" y="5257800"/>
            <a:ext cx="1676358" cy="1600200"/>
          </a:xfrm>
          <a:prstGeom prst="rect">
            <a:avLst/>
          </a:prstGeom>
        </p:spPr>
      </p:pic>
      <p:pic>
        <p:nvPicPr>
          <p:cNvPr id="9" name="primimg:pg0-Halftone-2:primimg-0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89778" y="1079500"/>
            <a:ext cx="2666933" cy="952500"/>
          </a:xfrm>
          <a:prstGeom prst="rect">
            <a:avLst/>
          </a:prstGeom>
        </p:spPr>
      </p:pic>
      <p:grpSp>
        <p:nvGrpSpPr>
          <p:cNvPr id="1000" name="pg0-Checker-3"/>
          <p:cNvGrpSpPr/>
          <p:nvPr/>
        </p:nvGrpSpPr>
        <p:grpSpPr>
          <a:xfrm>
            <a:off x="10553436" y="5410200"/>
            <a:ext cx="1003275" cy="114300"/>
            <a:chOff x="10553436" y="5410200"/>
            <a:chExt cx="1003275" cy="114300"/>
          </a:xfrm>
        </p:grpSpPr>
        <p:sp>
          <p:nvSpPr>
            <p:cNvPr id="10" name="pg0-Checker-3/decor-5"/>
            <p:cNvSpPr/>
            <p:nvPr/>
          </p:nvSpPr>
          <p:spPr>
            <a:xfrm>
              <a:off x="10553436" y="54102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1" name="pg0-Checker-3/decor-6"/>
            <p:cNvSpPr/>
            <p:nvPr/>
          </p:nvSpPr>
          <p:spPr>
            <a:xfrm>
              <a:off x="10731232" y="54102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  <p:sp>
          <p:nvSpPr>
            <p:cNvPr id="12" name="pg0-Checker-3/decor-7"/>
            <p:cNvSpPr/>
            <p:nvPr/>
          </p:nvSpPr>
          <p:spPr>
            <a:xfrm>
              <a:off x="10909027" y="54102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3" name="pg0-Checker-3/decor-8"/>
            <p:cNvSpPr/>
            <p:nvPr/>
          </p:nvSpPr>
          <p:spPr>
            <a:xfrm>
              <a:off x="11086823" y="54102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  <p:sp>
          <p:nvSpPr>
            <p:cNvPr id="14" name="pg0-Checker-3/decor-9"/>
            <p:cNvSpPr/>
            <p:nvPr/>
          </p:nvSpPr>
          <p:spPr>
            <a:xfrm>
              <a:off x="11264618" y="54102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5" name="pg0-Checker-3/decor-10"/>
            <p:cNvSpPr/>
            <p:nvPr/>
          </p:nvSpPr>
          <p:spPr>
            <a:xfrm>
              <a:off x="11442414" y="54102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</p:grpSp>
      <p:sp>
        <p:nvSpPr>
          <p:cNvPr id="16" name="txt-0"/>
          <p:cNvSpPr/>
          <p:nvPr/>
        </p:nvSpPr>
        <p:spPr>
          <a:xfrm>
            <a:off x="634984" y="279400"/>
            <a:ext cx="393690" cy="2921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xt-1"/>
          <p:cNvSpPr/>
          <p:nvPr/>
        </p:nvSpPr>
        <p:spPr>
          <a:xfrm>
            <a:off x="634984" y="1611709"/>
            <a:ext cx="11074123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8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IVP 2026 // CHALLENGE #1 — USER-FIRST OR USER-FAIL?</a:t>
            </a:r>
            <a:endParaRPr lang="en-US" sz="1050" dirty="0"/>
          </a:p>
        </p:txBody>
      </p:sp>
      <p:sp>
        <p:nvSpPr>
          <p:cNvPr id="18" name="txt-2"/>
          <p:cNvSpPr/>
          <p:nvPr/>
        </p:nvSpPr>
        <p:spPr>
          <a:xfrm>
            <a:off x="634984" y="2068909"/>
            <a:ext cx="11388440" cy="26535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ASIRIVE</a:t>
            </a:r>
            <a:endParaRPr lang="en-US" sz="10500" dirty="0"/>
          </a:p>
          <a:p>
            <a:pPr algn="l" indent="0" marL="0">
              <a:buNone/>
            </a:pPr>
            <a:r>
              <a:rPr lang="en-US" sz="105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CORTEX</a:t>
            </a:r>
            <a:endParaRPr lang="en-US" sz="10500" dirty="0"/>
          </a:p>
        </p:txBody>
      </p:sp>
      <p:sp>
        <p:nvSpPr>
          <p:cNvPr id="19" name="txt-3"/>
          <p:cNvSpPr/>
          <p:nvPr/>
        </p:nvSpPr>
        <p:spPr>
          <a:xfrm>
            <a:off x="634984" y="4776391"/>
            <a:ext cx="6375241" cy="71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Hands-free navigation for the visually impaired — </a:t>
            </a:r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one voice, no screen, cane still in hand.</a:t>
            </a:r>
            <a:endParaRPr lang="en-US" sz="2000" dirty="0"/>
          </a:p>
        </p:txBody>
      </p:sp>
      <p:sp>
        <p:nvSpPr>
          <p:cNvPr id="20" name="txt-4"/>
          <p:cNvSpPr/>
          <p:nvPr/>
        </p:nvSpPr>
        <p:spPr>
          <a:xfrm>
            <a:off x="634984" y="6350000"/>
            <a:ext cx="5864475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HAZIQ SHAH · MUHAMMAD IRFAN NUAFAL · ERYNA NATASHA — ADMIRALTY SECONDARY SCHOOL</a:t>
            </a:r>
            <a:endParaRPr lang="en-US" sz="850" dirty="0"/>
          </a:p>
        </p:txBody>
      </p:sp>
      <p:sp>
        <p:nvSpPr>
          <p:cNvPr id="21" name="txt-5"/>
          <p:cNvSpPr/>
          <p:nvPr/>
        </p:nvSpPr>
        <p:spPr>
          <a:xfrm>
            <a:off x="10905952" y="6350000"/>
            <a:ext cx="803156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WITH SAVH</a:t>
            </a:r>
            <a:endParaRPr lang="en-US" sz="850" dirty="0"/>
          </a:p>
        </p:txBody>
      </p:sp>
      <p:sp>
        <p:nvSpPr>
          <p:cNvPr id="22" name="svg-0"/>
          <p:cNvSpPr/>
          <p:nvPr/>
        </p:nvSpPr>
        <p:spPr>
          <a:xfrm>
            <a:off x="634984" y="6191250"/>
            <a:ext cx="1092172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1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1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1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1-Halftone-2: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5752" y="5715000"/>
            <a:ext cx="1650959" cy="571500"/>
          </a:xfrm>
          <a:prstGeom prst="rect">
            <a:avLst/>
          </a:prstGeom>
        </p:spPr>
      </p:pic>
      <p:sp>
        <p:nvSpPr>
          <p:cNvPr id="5" name="pg1-Tag-3/txt-1"/>
          <p:cNvSpPr/>
          <p:nvPr/>
        </p:nvSpPr>
        <p:spPr>
          <a:xfrm>
            <a:off x="634984" y="952500"/>
            <a:ext cx="3200320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CONTENTS</a:t>
            </a:r>
            <a:endParaRPr lang="en-US" sz="950" dirty="0"/>
          </a:p>
        </p:txBody>
      </p:sp>
      <p:sp>
        <p:nvSpPr>
          <p:cNvPr id="6" name="pg1-Rule-4/decor-1"/>
          <p:cNvSpPr/>
          <p:nvPr/>
        </p:nvSpPr>
        <p:spPr>
          <a:xfrm>
            <a:off x="4254394" y="14192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7" name="pg1-Rule-5/decor-2"/>
          <p:cNvSpPr/>
          <p:nvPr/>
        </p:nvSpPr>
        <p:spPr>
          <a:xfrm>
            <a:off x="4254394" y="19526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8" name="pg1-Rule-6/decor-3"/>
          <p:cNvSpPr/>
          <p:nvPr/>
        </p:nvSpPr>
        <p:spPr>
          <a:xfrm>
            <a:off x="4254394" y="24860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9" name="pg1-Rule-7/decor-4"/>
          <p:cNvSpPr/>
          <p:nvPr/>
        </p:nvSpPr>
        <p:spPr>
          <a:xfrm>
            <a:off x="4254394" y="30194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0" name="pg1-Rule-8/decor-5"/>
          <p:cNvSpPr/>
          <p:nvPr/>
        </p:nvSpPr>
        <p:spPr>
          <a:xfrm>
            <a:off x="4254394" y="35528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1" name="pg1-Rule-9/decor-6"/>
          <p:cNvSpPr/>
          <p:nvPr/>
        </p:nvSpPr>
        <p:spPr>
          <a:xfrm>
            <a:off x="4254394" y="40862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2" name="pg1-Rule-10/decor-7"/>
          <p:cNvSpPr/>
          <p:nvPr/>
        </p:nvSpPr>
        <p:spPr>
          <a:xfrm>
            <a:off x="4254394" y="46196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3" name="pg1-Rule-11/decor-8"/>
          <p:cNvSpPr/>
          <p:nvPr/>
        </p:nvSpPr>
        <p:spPr>
          <a:xfrm>
            <a:off x="4254394" y="51530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4" name="pg1-Rule-12/decor-9"/>
          <p:cNvSpPr/>
          <p:nvPr/>
        </p:nvSpPr>
        <p:spPr>
          <a:xfrm>
            <a:off x="4254394" y="5686425"/>
            <a:ext cx="730231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5" name="txt-2"/>
          <p:cNvSpPr/>
          <p:nvPr/>
        </p:nvSpPr>
        <p:spPr>
          <a:xfrm>
            <a:off x="634984" y="1231900"/>
            <a:ext cx="3261278" cy="1261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WHAT'S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AHEAD</a:t>
            </a:r>
            <a:endParaRPr lang="en-US" sz="4800" dirty="0"/>
          </a:p>
        </p:txBody>
      </p:sp>
      <p:sp>
        <p:nvSpPr>
          <p:cNvPr id="16" name="txt-3"/>
          <p:cNvSpPr/>
          <p:nvPr/>
        </p:nvSpPr>
        <p:spPr>
          <a:xfrm>
            <a:off x="634984" y="2592784"/>
            <a:ext cx="3200320" cy="76874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Design thinking is a loop, not a line. We followed six stages — and doubled back whenever testing proved us wrong.</a:t>
            </a:r>
            <a:endParaRPr lang="en-US" sz="1300" dirty="0"/>
          </a:p>
        </p:txBody>
      </p:sp>
      <p:sp>
        <p:nvSpPr>
          <p:cNvPr id="17" name="txt-4"/>
          <p:cNvSpPr/>
          <p:nvPr/>
        </p:nvSpPr>
        <p:spPr>
          <a:xfrm>
            <a:off x="4254394" y="16414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xt-5"/>
          <p:cNvSpPr/>
          <p:nvPr/>
        </p:nvSpPr>
        <p:spPr>
          <a:xfrm>
            <a:off x="4598575" y="1558925"/>
            <a:ext cx="1721601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19" name="txt-6"/>
          <p:cNvSpPr/>
          <p:nvPr/>
        </p:nvSpPr>
        <p:spPr>
          <a:xfrm>
            <a:off x="9734307" y="1660525"/>
            <a:ext cx="1974801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user-first, and the CARE test</a:t>
            </a:r>
            <a:endParaRPr lang="en-US" sz="900" dirty="0"/>
          </a:p>
        </p:txBody>
      </p:sp>
      <p:sp>
        <p:nvSpPr>
          <p:cNvPr id="20" name="txt-7"/>
          <p:cNvSpPr/>
          <p:nvPr/>
        </p:nvSpPr>
        <p:spPr>
          <a:xfrm>
            <a:off x="4254394" y="21748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xt-8"/>
          <p:cNvSpPr/>
          <p:nvPr/>
        </p:nvSpPr>
        <p:spPr>
          <a:xfrm>
            <a:off x="4598575" y="2092325"/>
            <a:ext cx="2335849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STAGE 1 — EMPATHIZE</a:t>
            </a:r>
            <a:endParaRPr lang="en-US" sz="1550" dirty="0"/>
          </a:p>
        </p:txBody>
      </p:sp>
      <p:sp>
        <p:nvSpPr>
          <p:cNvPr id="22" name="txt-9"/>
          <p:cNvSpPr/>
          <p:nvPr/>
        </p:nvSpPr>
        <p:spPr>
          <a:xfrm>
            <a:off x="10488350" y="2193925"/>
            <a:ext cx="1220757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who we design for</a:t>
            </a:r>
            <a:endParaRPr lang="en-US" sz="900" dirty="0"/>
          </a:p>
        </p:txBody>
      </p:sp>
      <p:sp>
        <p:nvSpPr>
          <p:cNvPr id="23" name="txt-10"/>
          <p:cNvSpPr/>
          <p:nvPr/>
        </p:nvSpPr>
        <p:spPr>
          <a:xfrm>
            <a:off x="4254394" y="27082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xt-11"/>
          <p:cNvSpPr/>
          <p:nvPr/>
        </p:nvSpPr>
        <p:spPr>
          <a:xfrm>
            <a:off x="4598575" y="2625725"/>
            <a:ext cx="1924994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STAGE 2 — DEFINE</a:t>
            </a:r>
            <a:endParaRPr lang="en-US" sz="1550" dirty="0"/>
          </a:p>
        </p:txBody>
      </p:sp>
      <p:sp>
        <p:nvSpPr>
          <p:cNvPr id="25" name="txt-12"/>
          <p:cNvSpPr/>
          <p:nvPr/>
        </p:nvSpPr>
        <p:spPr>
          <a:xfrm>
            <a:off x="10299839" y="2727325"/>
            <a:ext cx="1409268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the problem we chose</a:t>
            </a:r>
            <a:endParaRPr lang="en-US" sz="900" dirty="0"/>
          </a:p>
        </p:txBody>
      </p:sp>
      <p:sp>
        <p:nvSpPr>
          <p:cNvPr id="26" name="txt-13"/>
          <p:cNvSpPr/>
          <p:nvPr/>
        </p:nvSpPr>
        <p:spPr>
          <a:xfrm>
            <a:off x="4254394" y="32416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xt-14"/>
          <p:cNvSpPr/>
          <p:nvPr/>
        </p:nvSpPr>
        <p:spPr>
          <a:xfrm>
            <a:off x="4598575" y="3159125"/>
            <a:ext cx="3116780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STAGE 3 — MARKET RESEARCH</a:t>
            </a:r>
            <a:endParaRPr lang="en-US" sz="1550" dirty="0"/>
          </a:p>
        </p:txBody>
      </p:sp>
      <p:sp>
        <p:nvSpPr>
          <p:cNvPr id="28" name="txt-15"/>
          <p:cNvSpPr/>
          <p:nvPr/>
        </p:nvSpPr>
        <p:spPr>
          <a:xfrm>
            <a:off x="10048525" y="3260725"/>
            <a:ext cx="166058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what exists, what misses</a:t>
            </a:r>
            <a:endParaRPr lang="en-US" sz="900" dirty="0"/>
          </a:p>
        </p:txBody>
      </p:sp>
      <p:sp>
        <p:nvSpPr>
          <p:cNvPr id="29" name="txt-16"/>
          <p:cNvSpPr/>
          <p:nvPr/>
        </p:nvSpPr>
        <p:spPr>
          <a:xfrm>
            <a:off x="4254394" y="37750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xt-17"/>
          <p:cNvSpPr/>
          <p:nvPr/>
        </p:nvSpPr>
        <p:spPr>
          <a:xfrm>
            <a:off x="4598575" y="3692525"/>
            <a:ext cx="1909913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STAGE 4 — IDEATE</a:t>
            </a:r>
            <a:endParaRPr lang="en-US" sz="1550" dirty="0"/>
          </a:p>
        </p:txBody>
      </p:sp>
      <p:sp>
        <p:nvSpPr>
          <p:cNvPr id="31" name="txt-18"/>
          <p:cNvSpPr/>
          <p:nvPr/>
        </p:nvSpPr>
        <p:spPr>
          <a:xfrm>
            <a:off x="10425546" y="3794125"/>
            <a:ext cx="1283561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three design rules</a:t>
            </a:r>
            <a:endParaRPr lang="en-US" sz="900" dirty="0"/>
          </a:p>
        </p:txBody>
      </p:sp>
      <p:sp>
        <p:nvSpPr>
          <p:cNvPr id="32" name="txt-19"/>
          <p:cNvSpPr/>
          <p:nvPr/>
        </p:nvSpPr>
        <p:spPr>
          <a:xfrm>
            <a:off x="4254394" y="43084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xt-20"/>
          <p:cNvSpPr/>
          <p:nvPr/>
        </p:nvSpPr>
        <p:spPr>
          <a:xfrm>
            <a:off x="4598575" y="4225925"/>
            <a:ext cx="2358668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STAGE 5 — PROTOTYPE</a:t>
            </a:r>
            <a:endParaRPr lang="en-US" sz="1550" dirty="0"/>
          </a:p>
        </p:txBody>
      </p:sp>
      <p:sp>
        <p:nvSpPr>
          <p:cNvPr id="34" name="txt-21"/>
          <p:cNvSpPr/>
          <p:nvPr/>
        </p:nvSpPr>
        <p:spPr>
          <a:xfrm>
            <a:off x="9797111" y="4327525"/>
            <a:ext cx="1911997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what we built &amp; how it works</a:t>
            </a:r>
            <a:endParaRPr lang="en-US" sz="900" dirty="0"/>
          </a:p>
        </p:txBody>
      </p:sp>
      <p:sp>
        <p:nvSpPr>
          <p:cNvPr id="35" name="txt-22"/>
          <p:cNvSpPr/>
          <p:nvPr/>
        </p:nvSpPr>
        <p:spPr>
          <a:xfrm>
            <a:off x="4254394" y="48418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xt-23"/>
          <p:cNvSpPr/>
          <p:nvPr/>
        </p:nvSpPr>
        <p:spPr>
          <a:xfrm>
            <a:off x="4598575" y="4759325"/>
            <a:ext cx="1691935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STAGE 6 — TEST</a:t>
            </a:r>
            <a:endParaRPr lang="en-US" sz="1550" dirty="0"/>
          </a:p>
        </p:txBody>
      </p:sp>
      <p:sp>
        <p:nvSpPr>
          <p:cNvPr id="37" name="txt-24"/>
          <p:cNvSpPr/>
          <p:nvPr/>
        </p:nvSpPr>
        <p:spPr>
          <a:xfrm>
            <a:off x="9985621" y="4860925"/>
            <a:ext cx="172348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the failure that fixed it</a:t>
            </a:r>
            <a:endParaRPr lang="en-US" sz="900" dirty="0"/>
          </a:p>
        </p:txBody>
      </p:sp>
      <p:sp>
        <p:nvSpPr>
          <p:cNvPr id="38" name="txt-25"/>
          <p:cNvSpPr/>
          <p:nvPr/>
        </p:nvSpPr>
        <p:spPr>
          <a:xfrm>
            <a:off x="4254394" y="5375275"/>
            <a:ext cx="306082" cy="215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txt-26"/>
          <p:cNvSpPr/>
          <p:nvPr/>
        </p:nvSpPr>
        <p:spPr>
          <a:xfrm>
            <a:off x="4598575" y="5292725"/>
            <a:ext cx="1318485" cy="311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REFLECTION</a:t>
            </a:r>
            <a:endParaRPr lang="en-US" sz="1550" dirty="0"/>
          </a:p>
        </p:txBody>
      </p:sp>
      <p:sp>
        <p:nvSpPr>
          <p:cNvPr id="40" name="txt-27"/>
          <p:cNvSpPr/>
          <p:nvPr/>
        </p:nvSpPr>
        <p:spPr>
          <a:xfrm>
            <a:off x="10614057" y="5394325"/>
            <a:ext cx="1095050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what comes next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730832" y="2204244"/>
            <a:ext cx="4825879" cy="77271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decor-2"/>
          <p:cNvSpPr/>
          <p:nvPr/>
        </p:nvSpPr>
        <p:spPr>
          <a:xfrm>
            <a:off x="6730832" y="2976959"/>
            <a:ext cx="4825879" cy="7663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decor-3"/>
          <p:cNvSpPr/>
          <p:nvPr/>
        </p:nvSpPr>
        <p:spPr>
          <a:xfrm>
            <a:off x="6730832" y="3743325"/>
            <a:ext cx="4825879" cy="7663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decor-4"/>
          <p:cNvSpPr/>
          <p:nvPr/>
        </p:nvSpPr>
        <p:spPr>
          <a:xfrm>
            <a:off x="6730832" y="4509691"/>
            <a:ext cx="4825879" cy="7663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grpSp>
        <p:nvGrpSpPr>
          <p:cNvPr id="1000" name="pg2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6" name="pg2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7" name="pg2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8" name="pg2-Tag-2/txt-1"/>
          <p:cNvSpPr/>
          <p:nvPr/>
        </p:nvSpPr>
        <p:spPr>
          <a:xfrm>
            <a:off x="634984" y="1016000"/>
            <a:ext cx="574025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THE CHALLENGE WE CHOSE</a:t>
            </a:r>
            <a:endParaRPr lang="en-US" sz="950" dirty="0"/>
          </a:p>
        </p:txBody>
      </p:sp>
      <p:sp>
        <p:nvSpPr>
          <p:cNvPr id="9" name="pg2-Tag-3/txt-4"/>
          <p:cNvSpPr/>
          <p:nvPr/>
        </p:nvSpPr>
        <p:spPr>
          <a:xfrm>
            <a:off x="6730832" y="1899444"/>
            <a:ext cx="497827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OUR YARDSTICK — THE CARE TEST</a:t>
            </a:r>
            <a:endParaRPr lang="en-US" sz="950" dirty="0"/>
          </a:p>
        </p:txBody>
      </p:sp>
      <p:sp>
        <p:nvSpPr>
          <p:cNvPr id="10" name="txt-2"/>
          <p:cNvSpPr/>
          <p:nvPr/>
        </p:nvSpPr>
        <p:spPr>
          <a:xfrm>
            <a:off x="634984" y="1320800"/>
            <a:ext cx="5858999" cy="23239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1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USER-FIRST,</a:t>
            </a:r>
            <a:endParaRPr lang="en-US" sz="6100" dirty="0"/>
          </a:p>
          <a:p>
            <a:pPr algn="l" indent="0" marL="0">
              <a:buNone/>
            </a:pPr>
            <a:r>
              <a:rPr lang="en-US" sz="61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NEVER</a:t>
            </a:r>
            <a:pPr algn="l" indent="0" marL="0">
              <a:buNone/>
            </a:pPr>
            <a:r>
              <a:rPr lang="en-US" sz="61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6100" b="1" dirty="0">
                <a:solidFill>
                  <a:srgbClr val="63635F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USER-FAIL.</a:t>
            </a:r>
            <a:endParaRPr lang="en-US" sz="6100" dirty="0"/>
          </a:p>
        </p:txBody>
      </p:sp>
      <p:sp>
        <p:nvSpPr>
          <p:cNvPr id="11" name="txt-3"/>
          <p:cNvSpPr/>
          <p:nvPr/>
        </p:nvSpPr>
        <p:spPr>
          <a:xfrm>
            <a:off x="634984" y="3757116"/>
            <a:ext cx="5232269" cy="1155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IvP 2026 Challenge #1 asks one question: </a:t>
            </a:r>
            <a:pPr algn="l" indent="0" marL="0">
              <a:buNone/>
            </a:pPr>
            <a:r>
              <a:rPr lang="en-US" sz="1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does your design keep the user at the heart of everything?</a:t>
            </a:r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assistive tech has a long history of user-fail — powerful devices nobody actually uses. we held Cortex to that standard from day one.</a:t>
            </a:r>
            <a:endParaRPr lang="en-US" sz="1500" dirty="0"/>
          </a:p>
        </p:txBody>
      </p:sp>
      <p:sp>
        <p:nvSpPr>
          <p:cNvPr id="12" name="txt-5"/>
          <p:cNvSpPr/>
          <p:nvPr/>
        </p:nvSpPr>
        <p:spPr>
          <a:xfrm>
            <a:off x="7251519" y="2362994"/>
            <a:ext cx="2891162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CARE FOR THE USER</a:t>
            </a:r>
            <a:endParaRPr lang="en-US" sz="1350" dirty="0"/>
          </a:p>
        </p:txBody>
      </p:sp>
      <p:sp>
        <p:nvSpPr>
          <p:cNvPr id="13" name="txt-6"/>
          <p:cNvSpPr/>
          <p:nvPr/>
        </p:nvSpPr>
        <p:spPr>
          <a:xfrm>
            <a:off x="7251519" y="2629694"/>
            <a:ext cx="2891162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does it meet real needs, values, preferences?</a:t>
            </a:r>
            <a:endParaRPr lang="en-US" sz="1100" dirty="0"/>
          </a:p>
        </p:txBody>
      </p:sp>
      <p:sp>
        <p:nvSpPr>
          <p:cNvPr id="14" name="txt-7"/>
          <p:cNvSpPr/>
          <p:nvPr/>
        </p:nvSpPr>
        <p:spPr>
          <a:xfrm>
            <a:off x="7251519" y="3129359"/>
            <a:ext cx="3218377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ACHIEVE ITS GOAL</a:t>
            </a:r>
            <a:endParaRPr lang="en-US" sz="1350" dirty="0"/>
          </a:p>
        </p:txBody>
      </p:sp>
      <p:sp>
        <p:nvSpPr>
          <p:cNvPr id="15" name="txt-8"/>
          <p:cNvSpPr/>
          <p:nvPr/>
        </p:nvSpPr>
        <p:spPr>
          <a:xfrm>
            <a:off x="7251519" y="3396059"/>
            <a:ext cx="3218377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does it solve the problem better than what exists?</a:t>
            </a:r>
            <a:endParaRPr lang="en-US" sz="1100" dirty="0"/>
          </a:p>
        </p:txBody>
      </p:sp>
      <p:sp>
        <p:nvSpPr>
          <p:cNvPr id="16" name="txt-9"/>
          <p:cNvSpPr/>
          <p:nvPr/>
        </p:nvSpPr>
        <p:spPr>
          <a:xfrm>
            <a:off x="7251519" y="3895725"/>
            <a:ext cx="2462449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RESPECT BROADER IMPACT</a:t>
            </a:r>
            <a:endParaRPr lang="en-US" sz="1350" dirty="0"/>
          </a:p>
        </p:txBody>
      </p:sp>
      <p:sp>
        <p:nvSpPr>
          <p:cNvPr id="17" name="txt-10"/>
          <p:cNvSpPr/>
          <p:nvPr/>
        </p:nvSpPr>
        <p:spPr>
          <a:xfrm>
            <a:off x="7251519" y="4162425"/>
            <a:ext cx="2462449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is it responsible to society and cost?</a:t>
            </a:r>
            <a:endParaRPr lang="en-US" sz="1100" dirty="0"/>
          </a:p>
        </p:txBody>
      </p:sp>
      <p:sp>
        <p:nvSpPr>
          <p:cNvPr id="18" name="txt-11"/>
          <p:cNvSpPr/>
          <p:nvPr/>
        </p:nvSpPr>
        <p:spPr>
          <a:xfrm>
            <a:off x="7251519" y="4662091"/>
            <a:ext cx="235083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ENHANCE LIVES</a:t>
            </a:r>
            <a:endParaRPr lang="en-US" sz="1350" dirty="0"/>
          </a:p>
        </p:txBody>
      </p:sp>
      <p:sp>
        <p:nvSpPr>
          <p:cNvPr id="19" name="txt-12"/>
          <p:cNvSpPr/>
          <p:nvPr/>
        </p:nvSpPr>
        <p:spPr>
          <a:xfrm>
            <a:off x="7251519" y="4928791"/>
            <a:ext cx="235083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does daily life get genuinely better?</a:t>
            </a:r>
            <a:endParaRPr lang="en-US" sz="1100" dirty="0"/>
          </a:p>
        </p:txBody>
      </p:sp>
      <p:sp>
        <p:nvSpPr>
          <p:cNvPr id="20" name="svg-0"/>
          <p:cNvSpPr/>
          <p:nvPr/>
        </p:nvSpPr>
        <p:spPr>
          <a:xfrm>
            <a:off x="6730832" y="2204244"/>
            <a:ext cx="4825879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1" name="svg-1"/>
          <p:cNvSpPr/>
          <p:nvPr/>
        </p:nvSpPr>
        <p:spPr>
          <a:xfrm>
            <a:off x="6730832" y="2976959"/>
            <a:ext cx="4825879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2" name="svg-2"/>
          <p:cNvSpPr/>
          <p:nvPr/>
        </p:nvSpPr>
        <p:spPr>
          <a:xfrm>
            <a:off x="6730832" y="3743325"/>
            <a:ext cx="4825879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3" name="svg-3"/>
          <p:cNvSpPr/>
          <p:nvPr/>
        </p:nvSpPr>
        <p:spPr>
          <a:xfrm>
            <a:off x="6730832" y="4509691"/>
            <a:ext cx="4825879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4" name="svg-4"/>
          <p:cNvSpPr/>
          <p:nvPr/>
        </p:nvSpPr>
        <p:spPr>
          <a:xfrm>
            <a:off x="6730832" y="5276056"/>
            <a:ext cx="4825879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3-StageDivider-0/pg3-Chrome-2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3-StageDivider-0/pg3-Chrome-2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3-StageDivider-0/pg3-Chrome-2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3-Halftone-3:pg3-StageDivider-0/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98500"/>
          </a:xfrm>
          <a:prstGeom prst="rect">
            <a:avLst/>
          </a:prstGeom>
        </p:spPr>
      </p:pic>
      <p:sp>
        <p:nvSpPr>
          <p:cNvPr id="5" name="pg3-StageDivider-0/pg3-Tag-4/txt-2"/>
          <p:cNvSpPr/>
          <p:nvPr/>
        </p:nvSpPr>
        <p:spPr>
          <a:xfrm>
            <a:off x="2990775" y="1168400"/>
            <a:ext cx="871833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STAGE 01 // DESIGN THINKING</a:t>
            </a:r>
            <a:endParaRPr lang="en-US" sz="950" dirty="0"/>
          </a:p>
        </p:txBody>
      </p:sp>
      <p:grpSp>
        <p:nvGrpSpPr>
          <p:cNvPr id="1001" name="pg3-StageDivider-0/pg3-LoopRail-5"/>
          <p:cNvGrpSpPr/>
          <p:nvPr/>
        </p:nvGrpSpPr>
        <p:grpSpPr>
          <a:xfrm>
            <a:off x="634984" y="5461000"/>
            <a:ext cx="11074123" cy="933450"/>
            <a:chOff x="634984" y="5461000"/>
            <a:chExt cx="11074123" cy="933450"/>
          </a:xfrm>
        </p:grpSpPr>
        <p:sp>
          <p:nvSpPr>
            <p:cNvPr id="6" name="pg3-StageDivider-0/pg3-LoopRail-5/decor-1"/>
            <p:cNvSpPr/>
            <p:nvPr/>
          </p:nvSpPr>
          <p:spPr>
            <a:xfrm>
              <a:off x="1206470" y="563245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7" name="pg3-StageDivider-0/pg3-LoopRail-5/decor-2"/>
            <p:cNvSpPr/>
            <p:nvPr/>
          </p:nvSpPr>
          <p:spPr>
            <a:xfrm>
              <a:off x="1092173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8" name="pg3-StageDivider-0/pg3-LoopRail-5/decor-3"/>
            <p:cNvSpPr/>
            <p:nvPr/>
          </p:nvSpPr>
          <p:spPr>
            <a:xfrm>
              <a:off x="3022524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9" name="pg3-StageDivider-0/pg3-LoopRail-5/decor-4"/>
            <p:cNvSpPr/>
            <p:nvPr/>
          </p:nvSpPr>
          <p:spPr>
            <a:xfrm>
              <a:off x="4952876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0" name="pg3-StageDivider-0/pg3-LoopRail-5/decor-5"/>
            <p:cNvSpPr/>
            <p:nvPr/>
          </p:nvSpPr>
          <p:spPr>
            <a:xfrm>
              <a:off x="6883228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1" name="pg3-StageDivider-0/pg3-LoopRail-5/decor-6"/>
            <p:cNvSpPr/>
            <p:nvPr/>
          </p:nvSpPr>
          <p:spPr>
            <a:xfrm>
              <a:off x="8813580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2" name="pg3-StageDivider-0/pg3-LoopRail-5/decor-7"/>
            <p:cNvSpPr/>
            <p:nvPr/>
          </p:nvSpPr>
          <p:spPr>
            <a:xfrm>
              <a:off x="10743931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3" name="pg3-StageDivider-0/pg3-LoopRail-5/decor-8"/>
            <p:cNvSpPr/>
            <p:nvPr/>
          </p:nvSpPr>
          <p:spPr>
            <a:xfrm>
              <a:off x="1206470" y="581025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4" name="pg3-StageDivider-0/pg3-LoopRail-5/decor-9"/>
            <p:cNvSpPr/>
            <p:nvPr/>
          </p:nvSpPr>
          <p:spPr>
            <a:xfrm>
              <a:off x="1130272" y="571500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5" name="pg3-StageDivider-0/pg3-LoopRail-5/txt-5"/>
            <p:cNvSpPr/>
            <p:nvPr/>
          </p:nvSpPr>
          <p:spPr>
            <a:xfrm>
              <a:off x="1092173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16" name="pg3-StageDivider-0/pg3-LoopRail-5/txt-6"/>
            <p:cNvSpPr/>
            <p:nvPr/>
          </p:nvSpPr>
          <p:spPr>
            <a:xfrm>
              <a:off x="3022524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7" name="pg3-StageDivider-0/pg3-LoopRail-5/txt-7"/>
            <p:cNvSpPr/>
            <p:nvPr/>
          </p:nvSpPr>
          <p:spPr>
            <a:xfrm>
              <a:off x="4952876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8" name="pg3-StageDivider-0/pg3-LoopRail-5/txt-8"/>
            <p:cNvSpPr/>
            <p:nvPr/>
          </p:nvSpPr>
          <p:spPr>
            <a:xfrm>
              <a:off x="6883228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19" name="pg3-StageDivider-0/pg3-LoopRail-5/txt-9"/>
            <p:cNvSpPr/>
            <p:nvPr/>
          </p:nvSpPr>
          <p:spPr>
            <a:xfrm>
              <a:off x="8813580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0" name="pg3-StageDivider-0/pg3-LoopRail-5/txt-10"/>
            <p:cNvSpPr/>
            <p:nvPr/>
          </p:nvSpPr>
          <p:spPr>
            <a:xfrm>
              <a:off x="10743931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1" name="pg3-StageDivider-0/pg3-LoopRail-5/txt-11"/>
            <p:cNvSpPr/>
            <p:nvPr/>
          </p:nvSpPr>
          <p:spPr>
            <a:xfrm>
              <a:off x="634984" y="621030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2" name="pg3-StageDivider-0/pg3-LoopRail-5/svg-0"/>
            <p:cNvSpPr/>
            <p:nvPr/>
          </p:nvSpPr>
          <p:spPr>
            <a:xfrm>
              <a:off x="10985225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3" name="pg3-StageDivider-0/pg3-LoopRail-5/svg-1"/>
            <p:cNvSpPr/>
            <p:nvPr/>
          </p:nvSpPr>
          <p:spPr>
            <a:xfrm>
              <a:off x="1206470" y="614045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4" name="pg3-StageDivider-0/pg3-LoopRail-5/svg-2"/>
            <p:cNvSpPr/>
            <p:nvPr/>
          </p:nvSpPr>
          <p:spPr>
            <a:xfrm>
              <a:off x="1206470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5" name="pg3-StageDivider-0/pg3-LoopRail-5/svg-3"/>
            <p:cNvSpPr/>
            <p:nvPr/>
          </p:nvSpPr>
          <p:spPr>
            <a:xfrm>
              <a:off x="1219170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26" name="pg3-StageDivider-0/pg3-LoopRail-5/svg-4"/>
            <p:cNvSpPr/>
            <p:nvPr/>
          </p:nvSpPr>
          <p:spPr>
            <a:xfrm>
              <a:off x="1130272" y="581660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27" name="pg3-StageDivider-0/pg3-LoopRail-5/svg-5"/>
            <p:cNvSpPr/>
            <p:nvPr/>
          </p:nvSpPr>
          <p:spPr>
            <a:xfrm>
              <a:off x="1130272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28" name="pg3-StageDivider-0/txt-1"/>
          <p:cNvSpPr/>
          <p:nvPr/>
        </p:nvSpPr>
        <p:spPr>
          <a:xfrm>
            <a:off x="634984" y="952500"/>
            <a:ext cx="2644709" cy="2095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01</a:t>
            </a:r>
            <a:endParaRPr lang="en-US" sz="16500" dirty="0"/>
          </a:p>
        </p:txBody>
      </p:sp>
      <p:sp>
        <p:nvSpPr>
          <p:cNvPr id="29" name="pg3-StageDivider-0/txt-3"/>
          <p:cNvSpPr/>
          <p:nvPr/>
        </p:nvSpPr>
        <p:spPr>
          <a:xfrm>
            <a:off x="2990775" y="1422400"/>
            <a:ext cx="8850409" cy="894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EMPATHIZE</a:t>
            </a:r>
            <a:endParaRPr lang="en-US" sz="6400" dirty="0"/>
          </a:p>
        </p:txBody>
      </p:sp>
      <p:sp>
        <p:nvSpPr>
          <p:cNvPr id="30" name="pg3-StageDivider-0/txt-4"/>
          <p:cNvSpPr/>
          <p:nvPr/>
        </p:nvSpPr>
        <p:spPr>
          <a:xfrm>
            <a:off x="2990775" y="2410420"/>
            <a:ext cx="6819730" cy="7022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Who are we designing for — and what does getting around actually feel like for them?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6"/>
          <p:cNvSpPr/>
          <p:nvPr/>
        </p:nvSpPr>
        <p:spPr>
          <a:xfrm>
            <a:off x="634984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3" name="decor-7"/>
          <p:cNvSpPr/>
          <p:nvPr/>
        </p:nvSpPr>
        <p:spPr>
          <a:xfrm>
            <a:off x="1732217" y="3456880"/>
            <a:ext cx="1021134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4" name="decor-8"/>
          <p:cNvSpPr/>
          <p:nvPr/>
        </p:nvSpPr>
        <p:spPr>
          <a:xfrm>
            <a:off x="2829549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5" name="decor-9"/>
          <p:cNvSpPr/>
          <p:nvPr/>
        </p:nvSpPr>
        <p:spPr>
          <a:xfrm>
            <a:off x="3926782" y="3456880"/>
            <a:ext cx="1021134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6" name="decor-10"/>
          <p:cNvSpPr/>
          <p:nvPr/>
        </p:nvSpPr>
        <p:spPr>
          <a:xfrm>
            <a:off x="5024113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7" name="decor-11"/>
          <p:cNvSpPr/>
          <p:nvPr/>
        </p:nvSpPr>
        <p:spPr>
          <a:xfrm>
            <a:off x="6121346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8" name="decor-12"/>
          <p:cNvSpPr/>
          <p:nvPr/>
        </p:nvSpPr>
        <p:spPr>
          <a:xfrm>
            <a:off x="7218579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9" name="decor-13"/>
          <p:cNvSpPr/>
          <p:nvPr/>
        </p:nvSpPr>
        <p:spPr>
          <a:xfrm>
            <a:off x="8315812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10" name="decor-14"/>
          <p:cNvSpPr/>
          <p:nvPr/>
        </p:nvSpPr>
        <p:spPr>
          <a:xfrm>
            <a:off x="9413044" y="3456880"/>
            <a:ext cx="1021035" cy="558800"/>
          </a:xfrm>
          <a:prstGeom prst="rect">
            <a:avLst/>
          </a:prstGeom>
          <a:solidFill>
            <a:srgbClr val="D8E516"/>
          </a:solidFill>
          <a:ln/>
        </p:spPr>
      </p:sp>
      <p:sp>
        <p:nvSpPr>
          <p:cNvPr id="11" name="decor-15"/>
          <p:cNvSpPr/>
          <p:nvPr/>
        </p:nvSpPr>
        <p:spPr>
          <a:xfrm>
            <a:off x="10510277" y="3456880"/>
            <a:ext cx="1046434" cy="5588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F2F2C"/>
            </a:solidFill>
            <a:prstDash val="solid"/>
          </a:ln>
        </p:spPr>
      </p:sp>
      <p:grpSp>
        <p:nvGrpSpPr>
          <p:cNvPr id="1000" name="pg4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12" name="pg4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3" name="pg4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756" y="0"/>
            <a:ext cx="2412940" cy="228600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446" y="0"/>
            <a:ext cx="2019250" cy="189230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136" y="0"/>
            <a:ext cx="1625559" cy="14986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826" y="0"/>
            <a:ext cx="1193770" cy="1104900"/>
          </a:xfrm>
          <a:prstGeom prst="rect">
            <a:avLst/>
          </a:prstGeom>
        </p:spPr>
      </p:pic>
      <p:sp>
        <p:nvSpPr>
          <p:cNvPr id="18" name="pg4-Rings-2/decor-5"/>
          <p:cNvSpPr/>
          <p:nvPr/>
        </p:nvSpPr>
        <p:spPr>
          <a:xfrm>
            <a:off x="11353516" y="304800"/>
            <a:ext cx="40639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1211F"/>
            </a:solidFill>
            <a:prstDash val="solid"/>
          </a:ln>
        </p:spPr>
      </p:sp>
      <p:sp>
        <p:nvSpPr>
          <p:cNvPr id="19" name="pg4-Tag-3/txt-1"/>
          <p:cNvSpPr/>
          <p:nvPr/>
        </p:nvSpPr>
        <p:spPr>
          <a:xfrm>
            <a:off x="634984" y="1079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01 EMPATHIZE — THE SCALE</a:t>
            </a:r>
            <a:endParaRPr lang="en-US" sz="950" dirty="0"/>
          </a:p>
        </p:txBody>
      </p:sp>
      <p:sp>
        <p:nvSpPr>
          <p:cNvPr id="20" name="pg4-Rule-4/decor-16"/>
          <p:cNvSpPr/>
          <p:nvPr/>
        </p:nvSpPr>
        <p:spPr>
          <a:xfrm>
            <a:off x="634984" y="5918200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21" name="txt-2"/>
          <p:cNvSpPr/>
          <p:nvPr/>
        </p:nvSpPr>
        <p:spPr>
          <a:xfrm>
            <a:off x="634984" y="1409700"/>
            <a:ext cx="11366216" cy="1397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2.2 BILLION</a:t>
            </a:r>
            <a:endParaRPr lang="en-US" sz="10000" dirty="0"/>
          </a:p>
        </p:txBody>
      </p:sp>
      <p:sp>
        <p:nvSpPr>
          <p:cNvPr id="22" name="txt-3"/>
          <p:cNvSpPr/>
          <p:nvPr/>
        </p:nvSpPr>
        <p:spPr>
          <a:xfrm>
            <a:off x="634984" y="2730500"/>
            <a:ext cx="7137222" cy="370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people worldwide live with some form of vision impairment.</a:t>
            </a:r>
            <a:endParaRPr lang="en-US" sz="1800" dirty="0"/>
          </a:p>
        </p:txBody>
      </p:sp>
      <p:sp>
        <p:nvSpPr>
          <p:cNvPr id="23" name="txt-4"/>
          <p:cNvSpPr/>
          <p:nvPr/>
        </p:nvSpPr>
        <p:spPr>
          <a:xfrm>
            <a:off x="5024113" y="3456880"/>
            <a:ext cx="1173431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0A08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9 IN 10</a:t>
            </a:r>
            <a:endParaRPr lang="en-US" sz="950" dirty="0"/>
          </a:p>
        </p:txBody>
      </p:sp>
      <p:sp>
        <p:nvSpPr>
          <p:cNvPr id="24" name="txt-5"/>
          <p:cNvSpPr/>
          <p:nvPr/>
        </p:nvSpPr>
        <p:spPr>
          <a:xfrm>
            <a:off x="10510277" y="3456880"/>
            <a:ext cx="1198830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xt-6"/>
          <p:cNvSpPr/>
          <p:nvPr/>
        </p:nvSpPr>
        <p:spPr>
          <a:xfrm>
            <a:off x="634984" y="4129980"/>
            <a:ext cx="2938389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■ LIVE IN LOW- AND MIDDLE-INCOME COUNTRIES</a:t>
            </a:r>
            <a:endParaRPr lang="en-US" sz="950" dirty="0"/>
          </a:p>
        </p:txBody>
      </p:sp>
      <p:sp>
        <p:nvSpPr>
          <p:cNvPr id="26" name="txt-7"/>
          <p:cNvSpPr/>
          <p:nvPr/>
        </p:nvSpPr>
        <p:spPr>
          <a:xfrm>
            <a:off x="10031062" y="4129980"/>
            <a:ext cx="1678045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□ HIGH-INCOME COUNTRIES</a:t>
            </a:r>
            <a:endParaRPr lang="en-US" sz="950" dirty="0"/>
          </a:p>
        </p:txBody>
      </p:sp>
      <p:sp>
        <p:nvSpPr>
          <p:cNvPr id="27" name="txt-8"/>
          <p:cNvSpPr/>
          <p:nvPr/>
        </p:nvSpPr>
        <p:spPr>
          <a:xfrm>
            <a:off x="634984" y="4599880"/>
            <a:ext cx="7454714" cy="603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Yet most assistive technology is designed — and priced — for the </a:t>
            </a:r>
            <a:pPr algn="l" indent="0" marL="0">
              <a:buNone/>
            </a:pPr>
            <a:r>
              <a:rPr lang="en-US" sz="1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1 in 10 who can pay.</a:t>
            </a:r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that mismatch is where our project begins.</a:t>
            </a:r>
            <a:endParaRPr lang="en-US" sz="1500" dirty="0"/>
          </a:p>
        </p:txBody>
      </p:sp>
      <p:sp>
        <p:nvSpPr>
          <p:cNvPr id="28" name="txt-9"/>
          <p:cNvSpPr/>
          <p:nvPr/>
        </p:nvSpPr>
        <p:spPr>
          <a:xfrm>
            <a:off x="634984" y="6038850"/>
            <a:ext cx="11074123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SOURCES: WORLD HEALTH ORGANIZATION FACT SHEET (2023) // IAPB VISION ATLAS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630884"/>
            <a:ext cx="3471180" cy="26459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3" name="decor-2"/>
          <p:cNvSpPr/>
          <p:nvPr/>
        </p:nvSpPr>
        <p:spPr>
          <a:xfrm>
            <a:off x="730232" y="2726134"/>
            <a:ext cx="165096" cy="1651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decor-3"/>
          <p:cNvSpPr/>
          <p:nvPr/>
        </p:nvSpPr>
        <p:spPr>
          <a:xfrm>
            <a:off x="3845821" y="5016500"/>
            <a:ext cx="165096" cy="1651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decor-4"/>
          <p:cNvSpPr/>
          <p:nvPr/>
        </p:nvSpPr>
        <p:spPr>
          <a:xfrm>
            <a:off x="4360158" y="2630884"/>
            <a:ext cx="3471280" cy="26459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6" name="decor-5"/>
          <p:cNvSpPr/>
          <p:nvPr/>
        </p:nvSpPr>
        <p:spPr>
          <a:xfrm>
            <a:off x="4455406" y="2726134"/>
            <a:ext cx="165096" cy="1651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decor-6"/>
          <p:cNvSpPr/>
          <p:nvPr/>
        </p:nvSpPr>
        <p:spPr>
          <a:xfrm>
            <a:off x="7571094" y="5016500"/>
            <a:ext cx="165096" cy="1651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decor-7"/>
          <p:cNvSpPr/>
          <p:nvPr/>
        </p:nvSpPr>
        <p:spPr>
          <a:xfrm>
            <a:off x="8085431" y="2630884"/>
            <a:ext cx="3471280" cy="26459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9" name="decor-8"/>
          <p:cNvSpPr/>
          <p:nvPr/>
        </p:nvSpPr>
        <p:spPr>
          <a:xfrm>
            <a:off x="8180679" y="2726134"/>
            <a:ext cx="165096" cy="1651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decor-9"/>
          <p:cNvSpPr/>
          <p:nvPr/>
        </p:nvSpPr>
        <p:spPr>
          <a:xfrm>
            <a:off x="11296368" y="5016500"/>
            <a:ext cx="165096" cy="1651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grpSp>
        <p:nvGrpSpPr>
          <p:cNvPr id="1000" name="pg5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11" name="pg5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2" name="pg5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13" name="pg5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01 EMPATHIZE — PRIMARY RESEARCH</a:t>
            </a:r>
            <a:endParaRPr lang="en-US" sz="950" dirty="0"/>
          </a:p>
        </p:txBody>
      </p:sp>
      <p:sp>
        <p:nvSpPr>
          <p:cNvPr id="14" name="pg5-Rule-3/decor-10"/>
          <p:cNvSpPr/>
          <p:nvPr/>
        </p:nvSpPr>
        <p:spPr>
          <a:xfrm>
            <a:off x="634984" y="5994400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pic>
        <p:nvPicPr>
          <p:cNvPr id="15" name="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1334" y="2637234"/>
            <a:ext cx="3458481" cy="2633266"/>
          </a:xfrm>
          <a:prstGeom prst="rect">
            <a:avLst/>
          </a:prstGeom>
        </p:spPr>
      </p:pic>
      <p:pic>
        <p:nvPicPr>
          <p:cNvPr id="16" name="img-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6508" y="2637234"/>
            <a:ext cx="3458580" cy="2633266"/>
          </a:xfrm>
          <a:prstGeom prst="rect">
            <a:avLst/>
          </a:prstGeom>
        </p:spPr>
      </p:pic>
      <p:pic>
        <p:nvPicPr>
          <p:cNvPr id="17" name="img-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1781" y="2637234"/>
            <a:ext cx="3458580" cy="2633266"/>
          </a:xfrm>
          <a:prstGeom prst="rect">
            <a:avLst/>
          </a:prstGeom>
        </p:spPr>
      </p:pic>
      <p:sp>
        <p:nvSpPr>
          <p:cNvPr id="18" name="txt-2"/>
          <p:cNvSpPr/>
          <p:nvPr/>
        </p:nvSpPr>
        <p:spPr>
          <a:xfrm>
            <a:off x="634984" y="1231900"/>
            <a:ext cx="9094243" cy="1232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WE DID NOT JUST RESEARCH ONLINE.</a:t>
            </a:r>
            <a:endParaRPr lang="en-US" sz="4600" dirty="0"/>
          </a:p>
        </p:txBody>
      </p:sp>
      <p:sp>
        <p:nvSpPr>
          <p:cNvPr id="19" name="txt-3"/>
          <p:cNvSpPr/>
          <p:nvPr/>
        </p:nvSpPr>
        <p:spPr>
          <a:xfrm>
            <a:off x="634984" y="5391150"/>
            <a:ext cx="3623577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&gt; SESSION 01 — ONLINE INTERVIEW</a:t>
            </a:r>
            <a:endParaRPr lang="en-US" sz="900" dirty="0"/>
          </a:p>
        </p:txBody>
      </p:sp>
      <p:sp>
        <p:nvSpPr>
          <p:cNvPr id="20" name="txt-4"/>
          <p:cNvSpPr/>
          <p:nvPr/>
        </p:nvSpPr>
        <p:spPr>
          <a:xfrm>
            <a:off x="634984" y="5581650"/>
            <a:ext cx="3623577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daily routines &amp; pain points</a:t>
            </a:r>
            <a:endParaRPr lang="en-US" sz="1150" dirty="0"/>
          </a:p>
        </p:txBody>
      </p:sp>
      <p:sp>
        <p:nvSpPr>
          <p:cNvPr id="21" name="txt-5"/>
          <p:cNvSpPr/>
          <p:nvPr/>
        </p:nvSpPr>
        <p:spPr>
          <a:xfrm>
            <a:off x="4360158" y="5391150"/>
            <a:ext cx="362367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&gt; SESSION 02 — SAVH CENTRE VISIT</a:t>
            </a:r>
            <a:endParaRPr lang="en-US" sz="900" dirty="0"/>
          </a:p>
        </p:txBody>
      </p:sp>
      <p:sp>
        <p:nvSpPr>
          <p:cNvPr id="22" name="txt-6"/>
          <p:cNvSpPr/>
          <p:nvPr/>
        </p:nvSpPr>
        <p:spPr>
          <a:xfrm>
            <a:off x="4360158" y="5581650"/>
            <a:ext cx="3623676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guided interviews with members</a:t>
            </a:r>
            <a:endParaRPr lang="en-US" sz="1150" dirty="0"/>
          </a:p>
        </p:txBody>
      </p:sp>
      <p:sp>
        <p:nvSpPr>
          <p:cNvPr id="23" name="txt-7"/>
          <p:cNvSpPr/>
          <p:nvPr/>
        </p:nvSpPr>
        <p:spPr>
          <a:xfrm>
            <a:off x="8085431" y="5391150"/>
            <a:ext cx="362367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&gt; SESSION 03 — NAVIGATION WALK</a:t>
            </a:r>
            <a:endParaRPr lang="en-US" sz="900" dirty="0"/>
          </a:p>
        </p:txBody>
      </p:sp>
      <p:sp>
        <p:nvSpPr>
          <p:cNvPr id="24" name="txt-8"/>
          <p:cNvSpPr/>
          <p:nvPr/>
        </p:nvSpPr>
        <p:spPr>
          <a:xfrm>
            <a:off x="8085431" y="5581650"/>
            <a:ext cx="3623676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we followed, they led</a:t>
            </a:r>
            <a:endParaRPr lang="en-US" sz="1150" dirty="0"/>
          </a:p>
        </p:txBody>
      </p:sp>
      <p:sp>
        <p:nvSpPr>
          <p:cNvPr id="25" name="txt-9"/>
          <p:cNvSpPr/>
          <p:nvPr/>
        </p:nvSpPr>
        <p:spPr>
          <a:xfrm>
            <a:off x="634984" y="6102350"/>
            <a:ext cx="11074123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PRIMARY RESEARCH // SAVH — SINGAPORE ASSOCIATION OF THE VISUALLY HANDICAPPED, 2026</a:t>
            </a:r>
            <a:endParaRPr lang="en-US" sz="800" dirty="0"/>
          </a:p>
        </p:txBody>
      </p:sp>
      <p:sp>
        <p:nvSpPr>
          <p:cNvPr id="26" name="svg-0"/>
          <p:cNvSpPr/>
          <p:nvPr/>
        </p:nvSpPr>
        <p:spPr>
          <a:xfrm>
            <a:off x="730232" y="2726134"/>
            <a:ext cx="165096" cy="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27" name="svg-1"/>
          <p:cNvSpPr/>
          <p:nvPr/>
        </p:nvSpPr>
        <p:spPr>
          <a:xfrm>
            <a:off x="730232" y="2726134"/>
            <a:ext cx="0" cy="16510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28" name="svg-2"/>
          <p:cNvSpPr/>
          <p:nvPr/>
        </p:nvSpPr>
        <p:spPr>
          <a:xfrm>
            <a:off x="4010917" y="5016500"/>
            <a:ext cx="0" cy="16510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29" name="svg-3"/>
          <p:cNvSpPr/>
          <p:nvPr/>
        </p:nvSpPr>
        <p:spPr>
          <a:xfrm>
            <a:off x="3845821" y="5181600"/>
            <a:ext cx="165096" cy="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0" name="svg-4"/>
          <p:cNvSpPr/>
          <p:nvPr/>
        </p:nvSpPr>
        <p:spPr>
          <a:xfrm>
            <a:off x="4455406" y="2726134"/>
            <a:ext cx="165096" cy="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1" name="svg-5"/>
          <p:cNvSpPr/>
          <p:nvPr/>
        </p:nvSpPr>
        <p:spPr>
          <a:xfrm>
            <a:off x="4455406" y="2726134"/>
            <a:ext cx="0" cy="16510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2" name="svg-6"/>
          <p:cNvSpPr/>
          <p:nvPr/>
        </p:nvSpPr>
        <p:spPr>
          <a:xfrm>
            <a:off x="7736190" y="5016500"/>
            <a:ext cx="0" cy="16510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3" name="svg-7"/>
          <p:cNvSpPr/>
          <p:nvPr/>
        </p:nvSpPr>
        <p:spPr>
          <a:xfrm>
            <a:off x="7571094" y="5181600"/>
            <a:ext cx="165096" cy="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4" name="svg-8"/>
          <p:cNvSpPr/>
          <p:nvPr/>
        </p:nvSpPr>
        <p:spPr>
          <a:xfrm>
            <a:off x="8180679" y="2726134"/>
            <a:ext cx="165096" cy="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5" name="svg-9"/>
          <p:cNvSpPr/>
          <p:nvPr/>
        </p:nvSpPr>
        <p:spPr>
          <a:xfrm>
            <a:off x="8180679" y="2726134"/>
            <a:ext cx="0" cy="16510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6" name="svg-10"/>
          <p:cNvSpPr/>
          <p:nvPr/>
        </p:nvSpPr>
        <p:spPr>
          <a:xfrm>
            <a:off x="11461463" y="5016500"/>
            <a:ext cx="0" cy="16510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  <p:sp>
        <p:nvSpPr>
          <p:cNvPr id="37" name="svg-11"/>
          <p:cNvSpPr/>
          <p:nvPr/>
        </p:nvSpPr>
        <p:spPr>
          <a:xfrm>
            <a:off x="11296368" y="5181600"/>
            <a:ext cx="165096" cy="0"/>
          </a:xfrm>
          <a:prstGeom prst="line">
            <a:avLst/>
          </a:prstGeom>
          <a:ln w="38100">
            <a:solidFill>
              <a:srgbClr val="D8E51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083792"/>
            <a:ext cx="5321167" cy="31003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3" name="decor-2"/>
          <p:cNvSpPr/>
          <p:nvPr/>
        </p:nvSpPr>
        <p:spPr>
          <a:xfrm>
            <a:off x="6235544" y="2083792"/>
            <a:ext cx="5321167" cy="31003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4" name="decor-3"/>
          <p:cNvSpPr/>
          <p:nvPr/>
        </p:nvSpPr>
        <p:spPr>
          <a:xfrm>
            <a:off x="634984" y="5463580"/>
            <a:ext cx="10921727" cy="759420"/>
          </a:xfrm>
          <a:prstGeom prst="rect">
            <a:avLst/>
          </a:prstGeom>
          <a:solidFill>
            <a:srgbClr val="D8E516"/>
          </a:solidFill>
          <a:ln/>
        </p:spPr>
      </p:sp>
      <p:grpSp>
        <p:nvGrpSpPr>
          <p:cNvPr id="1000" name="pg6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5" name="pg6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6" name="pg6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7" name="pg6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01 EMPATHIZE — WHAT WE OBSERVED</a:t>
            </a:r>
            <a:endParaRPr lang="en-US" sz="950" dirty="0"/>
          </a:p>
        </p:txBody>
      </p:sp>
      <p:sp>
        <p:nvSpPr>
          <p:cNvPr id="8" name="txt-2"/>
          <p:cNvSpPr/>
          <p:nvPr/>
        </p:nvSpPr>
        <p:spPr>
          <a:xfrm>
            <a:off x="634984" y="1231900"/>
            <a:ext cx="11126192" cy="6601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DAILY TRADE-OFF</a:t>
            </a:r>
            <a:endParaRPr lang="en-US" sz="4600" dirty="0"/>
          </a:p>
        </p:txBody>
      </p:sp>
      <p:sp>
        <p:nvSpPr>
          <p:cNvPr id="9" name="txt-3"/>
          <p:cNvSpPr/>
          <p:nvPr/>
        </p:nvSpPr>
        <p:spPr>
          <a:xfrm>
            <a:off x="920727" y="2344142"/>
            <a:ext cx="4902077" cy="452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CANE</a:t>
            </a:r>
            <a:endParaRPr lang="en-US" sz="3100" dirty="0"/>
          </a:p>
        </p:txBody>
      </p:sp>
      <p:sp>
        <p:nvSpPr>
          <p:cNvPr id="10" name="txt-4"/>
          <p:cNvSpPr/>
          <p:nvPr/>
        </p:nvSpPr>
        <p:spPr>
          <a:xfrm>
            <a:off x="920727" y="2928342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2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Feels the ground — trusted, always ready</a:t>
            </a:r>
            <a:endParaRPr lang="en-US" sz="1250" dirty="0"/>
          </a:p>
        </p:txBody>
      </p:sp>
      <p:sp>
        <p:nvSpPr>
          <p:cNvPr id="11" name="txt-5"/>
          <p:cNvSpPr/>
          <p:nvPr/>
        </p:nvSpPr>
        <p:spPr>
          <a:xfrm>
            <a:off x="920727" y="3299817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2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Leaves hands and hearing free</a:t>
            </a:r>
            <a:endParaRPr lang="en-US" sz="1250" dirty="0"/>
          </a:p>
        </p:txBody>
      </p:sp>
      <p:sp>
        <p:nvSpPr>
          <p:cNvPr id="12" name="txt-6"/>
          <p:cNvSpPr/>
          <p:nvPr/>
        </p:nvSpPr>
        <p:spPr>
          <a:xfrm>
            <a:off x="920727" y="3671292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635F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−</a:t>
            </a:r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Cannot feel overhead signs or barriers</a:t>
            </a:r>
            <a:endParaRPr lang="en-US" sz="1250" dirty="0"/>
          </a:p>
        </p:txBody>
      </p:sp>
      <p:sp>
        <p:nvSpPr>
          <p:cNvPr id="13" name="txt-7"/>
          <p:cNvSpPr/>
          <p:nvPr/>
        </p:nvSpPr>
        <p:spPr>
          <a:xfrm>
            <a:off x="920727" y="4042767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635F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−</a:t>
            </a:r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Cannot read bus numbers or give directions</a:t>
            </a:r>
            <a:endParaRPr lang="en-US" sz="1250" dirty="0"/>
          </a:p>
        </p:txBody>
      </p:sp>
      <p:sp>
        <p:nvSpPr>
          <p:cNvPr id="14" name="txt-8"/>
          <p:cNvSpPr/>
          <p:nvPr/>
        </p:nvSpPr>
        <p:spPr>
          <a:xfrm>
            <a:off x="6521287" y="2344142"/>
            <a:ext cx="4902077" cy="452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PHONE</a:t>
            </a:r>
            <a:endParaRPr lang="en-US" sz="3100" dirty="0"/>
          </a:p>
        </p:txBody>
      </p:sp>
      <p:sp>
        <p:nvSpPr>
          <p:cNvPr id="15" name="txt-9"/>
          <p:cNvSpPr/>
          <p:nvPr/>
        </p:nvSpPr>
        <p:spPr>
          <a:xfrm>
            <a:off x="6521287" y="2928342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2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Maps, bus arrivals, information</a:t>
            </a:r>
            <a:endParaRPr lang="en-US" sz="1250" dirty="0"/>
          </a:p>
        </p:txBody>
      </p:sp>
      <p:sp>
        <p:nvSpPr>
          <p:cNvPr id="16" name="txt-10"/>
          <p:cNvSpPr/>
          <p:nvPr/>
        </p:nvSpPr>
        <p:spPr>
          <a:xfrm>
            <a:off x="6521287" y="3299817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635F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−</a:t>
            </a:r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Stops you mid-pavement to check</a:t>
            </a:r>
            <a:endParaRPr lang="en-US" sz="1250" dirty="0"/>
          </a:p>
        </p:txBody>
      </p:sp>
      <p:sp>
        <p:nvSpPr>
          <p:cNvPr id="17" name="txt-11"/>
          <p:cNvSpPr/>
          <p:nvPr/>
        </p:nvSpPr>
        <p:spPr>
          <a:xfrm>
            <a:off x="6521287" y="3671292"/>
            <a:ext cx="4902077" cy="422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635F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−</a:t>
            </a:r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Occupies the hands and attention you need for safety</a:t>
            </a:r>
            <a:endParaRPr lang="en-US" sz="1250" dirty="0"/>
          </a:p>
        </p:txBody>
      </p:sp>
      <p:sp>
        <p:nvSpPr>
          <p:cNvPr id="18" name="txt-12"/>
          <p:cNvSpPr/>
          <p:nvPr/>
        </p:nvSpPr>
        <p:spPr>
          <a:xfrm>
            <a:off x="888978" y="5697240"/>
            <a:ext cx="2022921" cy="342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STOP-AND-CHECK</a:t>
            </a:r>
            <a:endParaRPr lang="en-US" sz="2000" dirty="0"/>
          </a:p>
        </p:txBody>
      </p:sp>
      <p:sp>
        <p:nvSpPr>
          <p:cNvPr id="19" name="txt-13"/>
          <p:cNvSpPr/>
          <p:nvPr/>
        </p:nvSpPr>
        <p:spPr>
          <a:xfrm>
            <a:off x="2949997" y="5628680"/>
            <a:ext cx="8505116" cy="4800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every route decision costs half a minute of stillness — a pause in the middle of a footpath. safety or knowledge: never both.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7-StageDivider-0/pg7-Chrome-2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7-StageDivider-0/pg7-Chrome-2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7-StageDivider-0/pg7-Chrome-2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7-Halftone-3:pg7-StageDivider-0/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98500"/>
          </a:xfrm>
          <a:prstGeom prst="rect">
            <a:avLst/>
          </a:prstGeom>
        </p:spPr>
      </p:pic>
      <p:sp>
        <p:nvSpPr>
          <p:cNvPr id="5" name="pg7-StageDivider-0/pg7-Tag-4/txt-2"/>
          <p:cNvSpPr/>
          <p:nvPr/>
        </p:nvSpPr>
        <p:spPr>
          <a:xfrm>
            <a:off x="2990775" y="1168400"/>
            <a:ext cx="871833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STAGE 02 // DESIGN THINKING</a:t>
            </a:r>
            <a:endParaRPr lang="en-US" sz="950" dirty="0"/>
          </a:p>
        </p:txBody>
      </p:sp>
      <p:grpSp>
        <p:nvGrpSpPr>
          <p:cNvPr id="1001" name="pg7-StageDivider-0/pg7-LoopRail-5"/>
          <p:cNvGrpSpPr/>
          <p:nvPr/>
        </p:nvGrpSpPr>
        <p:grpSpPr>
          <a:xfrm>
            <a:off x="634984" y="5461000"/>
            <a:ext cx="11074123" cy="933450"/>
            <a:chOff x="634984" y="5461000"/>
            <a:chExt cx="11074123" cy="933450"/>
          </a:xfrm>
        </p:grpSpPr>
        <p:sp>
          <p:nvSpPr>
            <p:cNvPr id="6" name="pg7-StageDivider-0/pg7-LoopRail-5/decor-1"/>
            <p:cNvSpPr/>
            <p:nvPr/>
          </p:nvSpPr>
          <p:spPr>
            <a:xfrm>
              <a:off x="1206470" y="563245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7" name="pg7-StageDivider-0/pg7-LoopRail-5/decor-2"/>
            <p:cNvSpPr/>
            <p:nvPr/>
          </p:nvSpPr>
          <p:spPr>
            <a:xfrm>
              <a:off x="1092173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8" name="pg7-StageDivider-0/pg7-LoopRail-5/decor-3"/>
            <p:cNvSpPr/>
            <p:nvPr/>
          </p:nvSpPr>
          <p:spPr>
            <a:xfrm>
              <a:off x="3022524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9" name="pg7-StageDivider-0/pg7-LoopRail-5/decor-4"/>
            <p:cNvSpPr/>
            <p:nvPr/>
          </p:nvSpPr>
          <p:spPr>
            <a:xfrm>
              <a:off x="4952876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0" name="pg7-StageDivider-0/pg7-LoopRail-5/decor-5"/>
            <p:cNvSpPr/>
            <p:nvPr/>
          </p:nvSpPr>
          <p:spPr>
            <a:xfrm>
              <a:off x="6883228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1" name="pg7-StageDivider-0/pg7-LoopRail-5/decor-6"/>
            <p:cNvSpPr/>
            <p:nvPr/>
          </p:nvSpPr>
          <p:spPr>
            <a:xfrm>
              <a:off x="8813580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2" name="pg7-StageDivider-0/pg7-LoopRail-5/decor-7"/>
            <p:cNvSpPr/>
            <p:nvPr/>
          </p:nvSpPr>
          <p:spPr>
            <a:xfrm>
              <a:off x="10743931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3" name="pg7-StageDivider-0/pg7-LoopRail-5/decor-8"/>
            <p:cNvSpPr/>
            <p:nvPr/>
          </p:nvSpPr>
          <p:spPr>
            <a:xfrm>
              <a:off x="1206470" y="581025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4" name="pg7-StageDivider-0/pg7-LoopRail-5/decor-9"/>
            <p:cNvSpPr/>
            <p:nvPr/>
          </p:nvSpPr>
          <p:spPr>
            <a:xfrm>
              <a:off x="1130272" y="571500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5" name="pg7-StageDivider-0/pg7-LoopRail-5/txt-5"/>
            <p:cNvSpPr/>
            <p:nvPr/>
          </p:nvSpPr>
          <p:spPr>
            <a:xfrm>
              <a:off x="1092173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16" name="pg7-StageDivider-0/pg7-LoopRail-5/txt-6"/>
            <p:cNvSpPr/>
            <p:nvPr/>
          </p:nvSpPr>
          <p:spPr>
            <a:xfrm>
              <a:off x="3022524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7" name="pg7-StageDivider-0/pg7-LoopRail-5/txt-7"/>
            <p:cNvSpPr/>
            <p:nvPr/>
          </p:nvSpPr>
          <p:spPr>
            <a:xfrm>
              <a:off x="4952876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8" name="pg7-StageDivider-0/pg7-LoopRail-5/txt-8"/>
            <p:cNvSpPr/>
            <p:nvPr/>
          </p:nvSpPr>
          <p:spPr>
            <a:xfrm>
              <a:off x="6883228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19" name="pg7-StageDivider-0/pg7-LoopRail-5/txt-9"/>
            <p:cNvSpPr/>
            <p:nvPr/>
          </p:nvSpPr>
          <p:spPr>
            <a:xfrm>
              <a:off x="8813580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0" name="pg7-StageDivider-0/pg7-LoopRail-5/txt-10"/>
            <p:cNvSpPr/>
            <p:nvPr/>
          </p:nvSpPr>
          <p:spPr>
            <a:xfrm>
              <a:off x="10743931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1" name="pg7-StageDivider-0/pg7-LoopRail-5/txt-11"/>
            <p:cNvSpPr/>
            <p:nvPr/>
          </p:nvSpPr>
          <p:spPr>
            <a:xfrm>
              <a:off x="634984" y="621030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2" name="pg7-StageDivider-0/pg7-LoopRail-5/svg-0"/>
            <p:cNvSpPr/>
            <p:nvPr/>
          </p:nvSpPr>
          <p:spPr>
            <a:xfrm>
              <a:off x="10985225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3" name="pg7-StageDivider-0/pg7-LoopRail-5/svg-1"/>
            <p:cNvSpPr/>
            <p:nvPr/>
          </p:nvSpPr>
          <p:spPr>
            <a:xfrm>
              <a:off x="1206470" y="614045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4" name="pg7-StageDivider-0/pg7-LoopRail-5/svg-2"/>
            <p:cNvSpPr/>
            <p:nvPr/>
          </p:nvSpPr>
          <p:spPr>
            <a:xfrm>
              <a:off x="1206470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5" name="pg7-StageDivider-0/pg7-LoopRail-5/svg-3"/>
            <p:cNvSpPr/>
            <p:nvPr/>
          </p:nvSpPr>
          <p:spPr>
            <a:xfrm>
              <a:off x="1219170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26" name="pg7-StageDivider-0/pg7-LoopRail-5/svg-4"/>
            <p:cNvSpPr/>
            <p:nvPr/>
          </p:nvSpPr>
          <p:spPr>
            <a:xfrm>
              <a:off x="1130272" y="581660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27" name="pg7-StageDivider-0/pg7-LoopRail-5/svg-5"/>
            <p:cNvSpPr/>
            <p:nvPr/>
          </p:nvSpPr>
          <p:spPr>
            <a:xfrm>
              <a:off x="1130272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28" name="pg7-StageDivider-0/txt-1"/>
          <p:cNvSpPr/>
          <p:nvPr/>
        </p:nvSpPr>
        <p:spPr>
          <a:xfrm>
            <a:off x="634984" y="952500"/>
            <a:ext cx="2644709" cy="2095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02</a:t>
            </a:r>
            <a:endParaRPr lang="en-US" sz="16500" dirty="0"/>
          </a:p>
        </p:txBody>
      </p:sp>
      <p:sp>
        <p:nvSpPr>
          <p:cNvPr id="29" name="pg7-StageDivider-0/txt-3"/>
          <p:cNvSpPr/>
          <p:nvPr/>
        </p:nvSpPr>
        <p:spPr>
          <a:xfrm>
            <a:off x="2990775" y="1422400"/>
            <a:ext cx="8850409" cy="894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DEFINE</a:t>
            </a:r>
            <a:endParaRPr lang="en-US" sz="6400" dirty="0"/>
          </a:p>
        </p:txBody>
      </p:sp>
      <p:sp>
        <p:nvSpPr>
          <p:cNvPr id="30" name="pg7-StageDivider-0/txt-4"/>
          <p:cNvSpPr/>
          <p:nvPr/>
        </p:nvSpPr>
        <p:spPr>
          <a:xfrm>
            <a:off x="2990775" y="2410420"/>
            <a:ext cx="6819730" cy="7022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After three sessions with SAVH, one problem kept surfacing. We made it ours.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8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8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8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8-Halftone-2: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4762" y="5461000"/>
            <a:ext cx="2031949" cy="698500"/>
          </a:xfrm>
          <a:prstGeom prst="rect">
            <a:avLst/>
          </a:prstGeom>
        </p:spPr>
      </p:pic>
      <p:sp>
        <p:nvSpPr>
          <p:cNvPr id="5" name="pg8-Tag-3/txt-1"/>
          <p:cNvSpPr/>
          <p:nvPr/>
        </p:nvSpPr>
        <p:spPr>
          <a:xfrm>
            <a:off x="634984" y="1580654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02 DEFINE — OUR PROBLEM STATEMENT</a:t>
            </a:r>
            <a:endParaRPr lang="en-US" sz="950" dirty="0"/>
          </a:p>
        </p:txBody>
      </p:sp>
      <p:sp>
        <p:nvSpPr>
          <p:cNvPr id="6" name="txt-2"/>
          <p:cNvSpPr/>
          <p:nvPr/>
        </p:nvSpPr>
        <p:spPr>
          <a:xfrm>
            <a:off x="634984" y="1974354"/>
            <a:ext cx="10473428" cy="2906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HOW MIGHT A VISUALLY IMPAIRED PERSON TRAVEL INDEPENDENTLY — </a:t>
            </a:r>
            <a:pPr algn="l" indent="0" marL="0">
              <a:buNone/>
            </a:pPr>
            <a:r>
              <a:rPr lang="en-US" sz="42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WITHOUT PUTTING DOWN THE CANE,</a:t>
            </a:r>
            <a:pPr algn="l" indent="0" marL="0">
              <a:buNone/>
            </a:pPr>
            <a:r>
              <a:rPr lang="en-US" sz="42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WITHOUT STOPPING TO CHECK A PHONE, AND WITHOUT WAITING FOR SOMEONE TO HELP?</a:t>
            </a:r>
            <a:endParaRPr lang="en-US" sz="4200" dirty="0"/>
          </a:p>
        </p:txBody>
      </p:sp>
      <p:sp>
        <p:nvSpPr>
          <p:cNvPr id="7" name="txt-3"/>
          <p:cNvSpPr/>
          <p:nvPr/>
        </p:nvSpPr>
        <p:spPr>
          <a:xfrm>
            <a:off x="634984" y="5105896"/>
            <a:ext cx="7137222" cy="603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our yardstick, agreed with users: if a solution costs hands, attention or dignity — it fails the user-first test.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9-StageDivider-0/pg9-Chrome-2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9-StageDivider-0/pg9-Chrome-2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9-StageDivider-0/pg9-Chrome-2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9-Halftone-3:pg9-StageDivider-0/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98500"/>
          </a:xfrm>
          <a:prstGeom prst="rect">
            <a:avLst/>
          </a:prstGeom>
        </p:spPr>
      </p:pic>
      <p:sp>
        <p:nvSpPr>
          <p:cNvPr id="5" name="pg9-StageDivider-0/pg9-Tag-4/txt-2"/>
          <p:cNvSpPr/>
          <p:nvPr/>
        </p:nvSpPr>
        <p:spPr>
          <a:xfrm>
            <a:off x="2990775" y="1168400"/>
            <a:ext cx="871833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STAGE 03 // DESIGN THINKING</a:t>
            </a:r>
            <a:endParaRPr lang="en-US" sz="950" dirty="0"/>
          </a:p>
        </p:txBody>
      </p:sp>
      <p:grpSp>
        <p:nvGrpSpPr>
          <p:cNvPr id="1001" name="pg9-StageDivider-0/pg9-LoopRail-5"/>
          <p:cNvGrpSpPr/>
          <p:nvPr/>
        </p:nvGrpSpPr>
        <p:grpSpPr>
          <a:xfrm>
            <a:off x="634984" y="5461000"/>
            <a:ext cx="11074123" cy="933450"/>
            <a:chOff x="634984" y="5461000"/>
            <a:chExt cx="11074123" cy="933450"/>
          </a:xfrm>
        </p:grpSpPr>
        <p:sp>
          <p:nvSpPr>
            <p:cNvPr id="6" name="pg9-StageDivider-0/pg9-LoopRail-5/decor-1"/>
            <p:cNvSpPr/>
            <p:nvPr/>
          </p:nvSpPr>
          <p:spPr>
            <a:xfrm>
              <a:off x="1206470" y="563245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7" name="pg9-StageDivider-0/pg9-LoopRail-5/decor-2"/>
            <p:cNvSpPr/>
            <p:nvPr/>
          </p:nvSpPr>
          <p:spPr>
            <a:xfrm>
              <a:off x="1092173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8" name="pg9-StageDivider-0/pg9-LoopRail-5/decor-3"/>
            <p:cNvSpPr/>
            <p:nvPr/>
          </p:nvSpPr>
          <p:spPr>
            <a:xfrm>
              <a:off x="3022524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9" name="pg9-StageDivider-0/pg9-LoopRail-5/decor-4"/>
            <p:cNvSpPr/>
            <p:nvPr/>
          </p:nvSpPr>
          <p:spPr>
            <a:xfrm>
              <a:off x="4952876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10" name="pg9-StageDivider-0/pg9-LoopRail-5/decor-5"/>
            <p:cNvSpPr/>
            <p:nvPr/>
          </p:nvSpPr>
          <p:spPr>
            <a:xfrm>
              <a:off x="6883228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1" name="pg9-StageDivider-0/pg9-LoopRail-5/decor-6"/>
            <p:cNvSpPr/>
            <p:nvPr/>
          </p:nvSpPr>
          <p:spPr>
            <a:xfrm>
              <a:off x="8813580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2" name="pg9-StageDivider-0/pg9-LoopRail-5/decor-7"/>
            <p:cNvSpPr/>
            <p:nvPr/>
          </p:nvSpPr>
          <p:spPr>
            <a:xfrm>
              <a:off x="10743931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3" name="pg9-StageDivider-0/pg9-LoopRail-5/decor-8"/>
            <p:cNvSpPr/>
            <p:nvPr/>
          </p:nvSpPr>
          <p:spPr>
            <a:xfrm>
              <a:off x="1206470" y="581025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4" name="pg9-StageDivider-0/pg9-LoopRail-5/decor-9"/>
            <p:cNvSpPr/>
            <p:nvPr/>
          </p:nvSpPr>
          <p:spPr>
            <a:xfrm>
              <a:off x="1130272" y="571500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5" name="pg9-StageDivider-0/pg9-LoopRail-5/txt-5"/>
            <p:cNvSpPr/>
            <p:nvPr/>
          </p:nvSpPr>
          <p:spPr>
            <a:xfrm>
              <a:off x="1092173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16" name="pg9-StageDivider-0/pg9-LoopRail-5/txt-6"/>
            <p:cNvSpPr/>
            <p:nvPr/>
          </p:nvSpPr>
          <p:spPr>
            <a:xfrm>
              <a:off x="3022524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7" name="pg9-StageDivider-0/pg9-LoopRail-5/txt-7"/>
            <p:cNvSpPr/>
            <p:nvPr/>
          </p:nvSpPr>
          <p:spPr>
            <a:xfrm>
              <a:off x="4952876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8" name="pg9-StageDivider-0/pg9-LoopRail-5/txt-8"/>
            <p:cNvSpPr/>
            <p:nvPr/>
          </p:nvSpPr>
          <p:spPr>
            <a:xfrm>
              <a:off x="6883228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19" name="pg9-StageDivider-0/pg9-LoopRail-5/txt-9"/>
            <p:cNvSpPr/>
            <p:nvPr/>
          </p:nvSpPr>
          <p:spPr>
            <a:xfrm>
              <a:off x="8813580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0" name="pg9-StageDivider-0/pg9-LoopRail-5/txt-10"/>
            <p:cNvSpPr/>
            <p:nvPr/>
          </p:nvSpPr>
          <p:spPr>
            <a:xfrm>
              <a:off x="10743931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1" name="pg9-StageDivider-0/pg9-LoopRail-5/txt-11"/>
            <p:cNvSpPr/>
            <p:nvPr/>
          </p:nvSpPr>
          <p:spPr>
            <a:xfrm>
              <a:off x="634984" y="621030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2" name="pg9-StageDivider-0/pg9-LoopRail-5/svg-0"/>
            <p:cNvSpPr/>
            <p:nvPr/>
          </p:nvSpPr>
          <p:spPr>
            <a:xfrm>
              <a:off x="10985225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3" name="pg9-StageDivider-0/pg9-LoopRail-5/svg-1"/>
            <p:cNvSpPr/>
            <p:nvPr/>
          </p:nvSpPr>
          <p:spPr>
            <a:xfrm>
              <a:off x="1206470" y="614045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4" name="pg9-StageDivider-0/pg9-LoopRail-5/svg-2"/>
            <p:cNvSpPr/>
            <p:nvPr/>
          </p:nvSpPr>
          <p:spPr>
            <a:xfrm>
              <a:off x="1206470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5" name="pg9-StageDivider-0/pg9-LoopRail-5/svg-3"/>
            <p:cNvSpPr/>
            <p:nvPr/>
          </p:nvSpPr>
          <p:spPr>
            <a:xfrm>
              <a:off x="1219170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26" name="pg9-StageDivider-0/pg9-LoopRail-5/svg-4"/>
            <p:cNvSpPr/>
            <p:nvPr/>
          </p:nvSpPr>
          <p:spPr>
            <a:xfrm>
              <a:off x="1130272" y="581660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27" name="pg9-StageDivider-0/pg9-LoopRail-5/svg-5"/>
            <p:cNvSpPr/>
            <p:nvPr/>
          </p:nvSpPr>
          <p:spPr>
            <a:xfrm>
              <a:off x="1130272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28" name="pg9-StageDivider-0/txt-1"/>
          <p:cNvSpPr/>
          <p:nvPr/>
        </p:nvSpPr>
        <p:spPr>
          <a:xfrm>
            <a:off x="634984" y="952500"/>
            <a:ext cx="2644709" cy="2095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03</a:t>
            </a:r>
            <a:endParaRPr lang="en-US" sz="16500" dirty="0"/>
          </a:p>
        </p:txBody>
      </p:sp>
      <p:sp>
        <p:nvSpPr>
          <p:cNvPr id="29" name="pg9-StageDivider-0/txt-3"/>
          <p:cNvSpPr/>
          <p:nvPr/>
        </p:nvSpPr>
        <p:spPr>
          <a:xfrm>
            <a:off x="2990775" y="1422400"/>
            <a:ext cx="8850409" cy="894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RESEARCH</a:t>
            </a:r>
            <a:endParaRPr lang="en-US" sz="6400" dirty="0"/>
          </a:p>
        </p:txBody>
      </p:sp>
      <p:sp>
        <p:nvSpPr>
          <p:cNvPr id="30" name="pg9-StageDivider-0/txt-4"/>
          <p:cNvSpPr/>
          <p:nvPr/>
        </p:nvSpPr>
        <p:spPr>
          <a:xfrm>
            <a:off x="2990775" y="2410420"/>
            <a:ext cx="6819730" cy="7022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What already exists — and why isn't it enough for the person holding a cane?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2"/>
          <p:cNvSpPr/>
          <p:nvPr/>
        </p:nvSpPr>
        <p:spPr>
          <a:xfrm>
            <a:off x="2412940" y="2445742"/>
            <a:ext cx="1269968" cy="698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3" name="decor-4"/>
          <p:cNvSpPr/>
          <p:nvPr/>
        </p:nvSpPr>
        <p:spPr>
          <a:xfrm>
            <a:off x="2412940" y="3480792"/>
            <a:ext cx="1269968" cy="698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4" name="decor-6"/>
          <p:cNvSpPr/>
          <p:nvPr/>
        </p:nvSpPr>
        <p:spPr>
          <a:xfrm>
            <a:off x="2412940" y="4515842"/>
            <a:ext cx="1269968" cy="698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grpSp>
        <p:nvGrpSpPr>
          <p:cNvPr id="1000" name="pg10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5" name="pg10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6" name="pg10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7" name="pg10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03 MARKET RESEARCH — EXISTING SOLUTIONS</a:t>
            </a:r>
            <a:endParaRPr lang="en-US" sz="950" dirty="0"/>
          </a:p>
        </p:txBody>
      </p:sp>
      <p:sp>
        <p:nvSpPr>
          <p:cNvPr id="8" name="pg10-Rule-3/decor-1"/>
          <p:cNvSpPr/>
          <p:nvPr/>
        </p:nvSpPr>
        <p:spPr>
          <a:xfrm>
            <a:off x="634984" y="227429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9" name="pg10-Rule-4/decor-3"/>
          <p:cNvSpPr/>
          <p:nvPr/>
        </p:nvSpPr>
        <p:spPr>
          <a:xfrm>
            <a:off x="634984" y="330934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0" name="pg10-Rule-5/decor-5"/>
          <p:cNvSpPr/>
          <p:nvPr/>
        </p:nvSpPr>
        <p:spPr>
          <a:xfrm>
            <a:off x="634984" y="434439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1" name="pg10-Rule-7/decor-7"/>
          <p:cNvSpPr/>
          <p:nvPr/>
        </p:nvSpPr>
        <p:spPr>
          <a:xfrm>
            <a:off x="634984" y="537944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pic>
        <p:nvPicPr>
          <p:cNvPr id="12" name="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19290" y="2452092"/>
            <a:ext cx="1257269" cy="685800"/>
          </a:xfrm>
          <a:prstGeom prst="rect">
            <a:avLst/>
          </a:prstGeom>
        </p:spPr>
      </p:pic>
      <p:pic>
        <p:nvPicPr>
          <p:cNvPr id="13" name="img-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19290" y="3487142"/>
            <a:ext cx="1257269" cy="685800"/>
          </a:xfrm>
          <a:prstGeom prst="rect">
            <a:avLst/>
          </a:prstGeom>
        </p:spPr>
      </p:pic>
      <p:sp>
        <p:nvSpPr>
          <p:cNvPr id="14" name="txt-2"/>
          <p:cNvSpPr/>
          <p:nvPr/>
        </p:nvSpPr>
        <p:spPr>
          <a:xfrm>
            <a:off x="634984" y="1231900"/>
            <a:ext cx="11126192" cy="6601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GOOD TOOLS. </a:t>
            </a:r>
            <a:pPr algn="l" indent="0" marL="0">
              <a:buNone/>
            </a:pPr>
            <a:r>
              <a:rPr lang="en-US" sz="46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WRONG JOB.</a:t>
            </a:r>
            <a:endParaRPr lang="en-US" sz="4600" dirty="0"/>
          </a:p>
        </p:txBody>
      </p:sp>
      <p:sp>
        <p:nvSpPr>
          <p:cNvPr id="15" name="txt-3"/>
          <p:cNvSpPr/>
          <p:nvPr/>
        </p:nvSpPr>
        <p:spPr>
          <a:xfrm>
            <a:off x="634984" y="2058392"/>
            <a:ext cx="1930352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PRODUCT</a:t>
            </a:r>
            <a:endParaRPr lang="en-US" sz="850" dirty="0"/>
          </a:p>
        </p:txBody>
      </p:sp>
      <p:sp>
        <p:nvSpPr>
          <p:cNvPr id="16" name="txt-4"/>
          <p:cNvSpPr/>
          <p:nvPr/>
        </p:nvSpPr>
        <p:spPr>
          <a:xfrm>
            <a:off x="2412940" y="2058392"/>
            <a:ext cx="1422364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SNAPSHOT</a:t>
            </a:r>
            <a:endParaRPr lang="en-US" sz="850" dirty="0"/>
          </a:p>
        </p:txBody>
      </p:sp>
      <p:sp>
        <p:nvSpPr>
          <p:cNvPr id="17" name="txt-5"/>
          <p:cNvSpPr/>
          <p:nvPr/>
        </p:nvSpPr>
        <p:spPr>
          <a:xfrm>
            <a:off x="3682908" y="2058392"/>
            <a:ext cx="2247844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18" name="txt-6"/>
          <p:cNvSpPr/>
          <p:nvPr/>
        </p:nvSpPr>
        <p:spPr>
          <a:xfrm>
            <a:off x="5778356" y="2058392"/>
            <a:ext cx="2903961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PROS</a:t>
            </a:r>
            <a:endParaRPr lang="en-US" sz="850" dirty="0"/>
          </a:p>
        </p:txBody>
      </p:sp>
      <p:sp>
        <p:nvSpPr>
          <p:cNvPr id="19" name="txt-7"/>
          <p:cNvSpPr/>
          <p:nvPr/>
        </p:nvSpPr>
        <p:spPr>
          <a:xfrm>
            <a:off x="8529920" y="2058392"/>
            <a:ext cx="3179187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CONS — WHY IT MISSES</a:t>
            </a:r>
            <a:endParaRPr lang="en-US" sz="850" dirty="0"/>
          </a:p>
        </p:txBody>
      </p:sp>
      <p:sp>
        <p:nvSpPr>
          <p:cNvPr id="20" name="txt-8"/>
          <p:cNvSpPr/>
          <p:nvPr/>
        </p:nvSpPr>
        <p:spPr>
          <a:xfrm>
            <a:off x="634984" y="2445742"/>
            <a:ext cx="1930352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BE MY EYES</a:t>
            </a:r>
            <a:endParaRPr lang="en-US" sz="1650" dirty="0"/>
          </a:p>
        </p:txBody>
      </p:sp>
      <p:sp>
        <p:nvSpPr>
          <p:cNvPr id="21" name="txt-9"/>
          <p:cNvSpPr/>
          <p:nvPr/>
        </p:nvSpPr>
        <p:spPr>
          <a:xfrm>
            <a:off x="3873403" y="2445742"/>
            <a:ext cx="2247844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free app connecting users to sighted volunteers over video call</a:t>
            </a:r>
            <a:endParaRPr lang="en-US" sz="1050" dirty="0"/>
          </a:p>
        </p:txBody>
      </p:sp>
      <p:sp>
        <p:nvSpPr>
          <p:cNvPr id="22" name="txt-10"/>
          <p:cNvSpPr/>
          <p:nvPr/>
        </p:nvSpPr>
        <p:spPr>
          <a:xfrm>
            <a:off x="5968851" y="2445742"/>
            <a:ext cx="2913089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free · human judgement · handles almost any task</a:t>
            </a:r>
            <a:endParaRPr lang="en-US" sz="1050" dirty="0"/>
          </a:p>
        </p:txBody>
      </p:sp>
      <p:sp>
        <p:nvSpPr>
          <p:cNvPr id="23" name="txt-11"/>
          <p:cNvSpPr/>
          <p:nvPr/>
        </p:nvSpPr>
        <p:spPr>
          <a:xfrm>
            <a:off x="8729543" y="2445742"/>
            <a:ext cx="2979564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needs a phone in hand · depends on volunteer availability · not built for continuous navigation</a:t>
            </a:r>
            <a:endParaRPr lang="en-US" sz="1050" dirty="0"/>
          </a:p>
        </p:txBody>
      </p:sp>
      <p:sp>
        <p:nvSpPr>
          <p:cNvPr id="24" name="txt-12"/>
          <p:cNvSpPr/>
          <p:nvPr/>
        </p:nvSpPr>
        <p:spPr>
          <a:xfrm>
            <a:off x="634984" y="3480792"/>
            <a:ext cx="1930352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ENVISION GLASSES</a:t>
            </a:r>
            <a:endParaRPr lang="en-US" sz="1650" dirty="0"/>
          </a:p>
        </p:txBody>
      </p:sp>
      <p:sp>
        <p:nvSpPr>
          <p:cNvPr id="25" name="txt-13"/>
          <p:cNvSpPr/>
          <p:nvPr/>
        </p:nvSpPr>
        <p:spPr>
          <a:xfrm>
            <a:off x="3873403" y="3480792"/>
            <a:ext cx="2247844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AI glasses (built on Google Glass) that read text and identify objects</a:t>
            </a:r>
            <a:endParaRPr lang="en-US" sz="1050" dirty="0"/>
          </a:p>
        </p:txBody>
      </p:sp>
      <p:sp>
        <p:nvSpPr>
          <p:cNvPr id="26" name="txt-14"/>
          <p:cNvSpPr/>
          <p:nvPr/>
        </p:nvSpPr>
        <p:spPr>
          <a:xfrm>
            <a:off x="5968851" y="3480792"/>
            <a:ext cx="2913089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hands-free reading · recognises objects &amp; people</a:t>
            </a:r>
            <a:endParaRPr lang="en-US" sz="1050" dirty="0"/>
          </a:p>
        </p:txBody>
      </p:sp>
      <p:sp>
        <p:nvSpPr>
          <p:cNvPr id="27" name="txt-15"/>
          <p:cNvSpPr/>
          <p:nvPr/>
        </p:nvSpPr>
        <p:spPr>
          <a:xfrm>
            <a:off x="8729543" y="3480792"/>
            <a:ext cx="2979564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≈ US$2,500 (S$3,259 list) · reading-first, not navigation-first · screen and camera up front all day</a:t>
            </a:r>
            <a:endParaRPr lang="en-US" sz="1050" dirty="0"/>
          </a:p>
        </p:txBody>
      </p:sp>
      <p:sp>
        <p:nvSpPr>
          <p:cNvPr id="28" name="txt-16"/>
          <p:cNvSpPr/>
          <p:nvPr/>
        </p:nvSpPr>
        <p:spPr>
          <a:xfrm>
            <a:off x="634984" y="4515842"/>
            <a:ext cx="1930352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ORCAM MYEYE</a:t>
            </a:r>
            <a:endParaRPr lang="en-US" sz="1650" dirty="0"/>
          </a:p>
        </p:txBody>
      </p:sp>
      <p:sp>
        <p:nvSpPr>
          <p:cNvPr id="29" name="txt-17"/>
          <p:cNvSpPr/>
          <p:nvPr/>
        </p:nvSpPr>
        <p:spPr>
          <a:xfrm>
            <a:off x="3873403" y="4515842"/>
            <a:ext cx="2247844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discreet clip-on camera that reads text aloud</a:t>
            </a:r>
            <a:endParaRPr lang="en-US" sz="1050" dirty="0"/>
          </a:p>
        </p:txBody>
      </p:sp>
      <p:sp>
        <p:nvSpPr>
          <p:cNvPr id="30" name="txt-18"/>
          <p:cNvSpPr/>
          <p:nvPr/>
        </p:nvSpPr>
        <p:spPr>
          <a:xfrm>
            <a:off x="5968851" y="4515842"/>
            <a:ext cx="2913089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small &amp; discreet · strong text reading</a:t>
            </a:r>
            <a:endParaRPr lang="en-US" sz="1050" dirty="0"/>
          </a:p>
        </p:txBody>
      </p:sp>
      <p:sp>
        <p:nvSpPr>
          <p:cNvPr id="31" name="txt-19"/>
          <p:cNvSpPr/>
          <p:nvPr/>
        </p:nvSpPr>
        <p:spPr>
          <a:xfrm>
            <a:off x="8729543" y="4515842"/>
            <a:ext cx="2979564" cy="749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US$2,500–4,250 · reads text — it does not guide you anywhere</a:t>
            </a:r>
            <a:endParaRPr lang="en-US" sz="1050" dirty="0"/>
          </a:p>
        </p:txBody>
      </p:sp>
      <p:sp>
        <p:nvSpPr>
          <p:cNvPr id="32" name="txt-20"/>
          <p:cNvSpPr/>
          <p:nvPr/>
        </p:nvSpPr>
        <p:spPr>
          <a:xfrm>
            <a:off x="634984" y="6102350"/>
            <a:ext cx="11074123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SOURCES: OFFICIAL PRODUCT PAGES &amp; PUBLISHED PRICING, 2026 // PROS AND CONS VERIFIED AGAINST USER FEEDBACK FROM SAVH SESSIONS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7"/>
          <p:cNvSpPr/>
          <p:nvPr/>
        </p:nvSpPr>
        <p:spPr>
          <a:xfrm>
            <a:off x="634984" y="2242245"/>
            <a:ext cx="3488146" cy="20558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decor-8"/>
          <p:cNvSpPr/>
          <p:nvPr/>
        </p:nvSpPr>
        <p:spPr>
          <a:xfrm>
            <a:off x="4351725" y="2242245"/>
            <a:ext cx="3488246" cy="20558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decor-9"/>
          <p:cNvSpPr/>
          <p:nvPr/>
        </p:nvSpPr>
        <p:spPr>
          <a:xfrm>
            <a:off x="8068565" y="2242245"/>
            <a:ext cx="3488146" cy="20558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grpSp>
        <p:nvGrpSpPr>
          <p:cNvPr id="1000" name="pg11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5" name="pg11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6" name="pg11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grpSp>
        <p:nvGrpSpPr>
          <p:cNvPr id="1001" name="pg11-Checker-2"/>
          <p:cNvGrpSpPr/>
          <p:nvPr/>
        </p:nvGrpSpPr>
        <p:grpSpPr>
          <a:xfrm>
            <a:off x="10553436" y="825500"/>
            <a:ext cx="1003275" cy="114300"/>
            <a:chOff x="10553436" y="825500"/>
            <a:chExt cx="1003275" cy="114300"/>
          </a:xfrm>
        </p:grpSpPr>
        <p:sp>
          <p:nvSpPr>
            <p:cNvPr id="7" name="pg11-Checker-2/decor-1"/>
            <p:cNvSpPr/>
            <p:nvPr/>
          </p:nvSpPr>
          <p:spPr>
            <a:xfrm>
              <a:off x="10553436" y="8255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8" name="pg11-Checker-2/decor-2"/>
            <p:cNvSpPr/>
            <p:nvPr/>
          </p:nvSpPr>
          <p:spPr>
            <a:xfrm>
              <a:off x="10731232" y="8255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  <p:sp>
          <p:nvSpPr>
            <p:cNvPr id="9" name="pg11-Checker-2/decor-3"/>
            <p:cNvSpPr/>
            <p:nvPr/>
          </p:nvSpPr>
          <p:spPr>
            <a:xfrm>
              <a:off x="10909027" y="8255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0" name="pg11-Checker-2/decor-4"/>
            <p:cNvSpPr/>
            <p:nvPr/>
          </p:nvSpPr>
          <p:spPr>
            <a:xfrm>
              <a:off x="11086823" y="8255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  <p:sp>
          <p:nvSpPr>
            <p:cNvPr id="11" name="pg11-Checker-2/decor-5"/>
            <p:cNvSpPr/>
            <p:nvPr/>
          </p:nvSpPr>
          <p:spPr>
            <a:xfrm>
              <a:off x="11264618" y="8255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2" name="pg11-Checker-2/decor-6"/>
            <p:cNvSpPr/>
            <p:nvPr/>
          </p:nvSpPr>
          <p:spPr>
            <a:xfrm>
              <a:off x="11442414" y="8255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</p:grpSp>
      <p:sp>
        <p:nvSpPr>
          <p:cNvPr id="13" name="pg11-Tag-3/txt-1"/>
          <p:cNvSpPr/>
          <p:nvPr/>
        </p:nvSpPr>
        <p:spPr>
          <a:xfrm>
            <a:off x="634984" y="10160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03 MARKET RESEARCH — THE GAP</a:t>
            </a:r>
            <a:endParaRPr lang="en-US" sz="950" dirty="0"/>
          </a:p>
        </p:txBody>
      </p:sp>
      <p:sp>
        <p:nvSpPr>
          <p:cNvPr id="14" name="txt-2"/>
          <p:cNvSpPr/>
          <p:nvPr/>
        </p:nvSpPr>
        <p:spPr>
          <a:xfrm>
            <a:off x="634984" y="1308100"/>
            <a:ext cx="9738117" cy="6826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NOTHING WALKS YOU THERE.</a:t>
            </a:r>
            <a:endParaRPr lang="en-US" sz="4800" dirty="0"/>
          </a:p>
        </p:txBody>
      </p:sp>
      <p:sp>
        <p:nvSpPr>
          <p:cNvPr id="15" name="txt-3"/>
          <p:cNvSpPr/>
          <p:nvPr/>
        </p:nvSpPr>
        <p:spPr>
          <a:xfrm>
            <a:off x="895328" y="2534345"/>
            <a:ext cx="3119856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xt-4"/>
          <p:cNvSpPr/>
          <p:nvPr/>
        </p:nvSpPr>
        <p:spPr>
          <a:xfrm>
            <a:off x="895328" y="2781995"/>
            <a:ext cx="3119856" cy="4660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COST</a:t>
            </a:r>
            <a:endParaRPr lang="en-US" sz="2800" dirty="0"/>
          </a:p>
        </p:txBody>
      </p:sp>
      <p:sp>
        <p:nvSpPr>
          <p:cNvPr id="17" name="txt-5"/>
          <p:cNvSpPr/>
          <p:nvPr/>
        </p:nvSpPr>
        <p:spPr>
          <a:xfrm>
            <a:off x="895328" y="3321745"/>
            <a:ext cx="3119856" cy="5111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US$2,500+ price tags put existing assistive glasses out of reach for most families.</a:t>
            </a:r>
            <a:endParaRPr lang="en-US" sz="1250" dirty="0"/>
          </a:p>
        </p:txBody>
      </p:sp>
      <p:sp>
        <p:nvSpPr>
          <p:cNvPr id="18" name="txt-6"/>
          <p:cNvSpPr/>
          <p:nvPr/>
        </p:nvSpPr>
        <p:spPr>
          <a:xfrm>
            <a:off x="4612068" y="2534345"/>
            <a:ext cx="3119955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xt-7"/>
          <p:cNvSpPr/>
          <p:nvPr/>
        </p:nvSpPr>
        <p:spPr>
          <a:xfrm>
            <a:off x="4612068" y="2781995"/>
            <a:ext cx="3119955" cy="4660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INDEPENDENCE</a:t>
            </a:r>
            <a:endParaRPr lang="en-US" sz="2800" dirty="0"/>
          </a:p>
        </p:txBody>
      </p:sp>
      <p:sp>
        <p:nvSpPr>
          <p:cNvPr id="20" name="txt-8"/>
          <p:cNvSpPr/>
          <p:nvPr/>
        </p:nvSpPr>
        <p:spPr>
          <a:xfrm>
            <a:off x="4612068" y="3321745"/>
            <a:ext cx="3119955" cy="7413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every alternative still needs a phone in hand, a volunteer on call — or simply stops at reading.</a:t>
            </a:r>
            <a:endParaRPr lang="en-US" sz="1250" dirty="0"/>
          </a:p>
        </p:txBody>
      </p:sp>
      <p:sp>
        <p:nvSpPr>
          <p:cNvPr id="21" name="txt-9"/>
          <p:cNvSpPr/>
          <p:nvPr/>
        </p:nvSpPr>
        <p:spPr>
          <a:xfrm>
            <a:off x="8328908" y="2534345"/>
            <a:ext cx="3119856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xt-10"/>
          <p:cNvSpPr/>
          <p:nvPr/>
        </p:nvSpPr>
        <p:spPr>
          <a:xfrm>
            <a:off x="8328908" y="2781995"/>
            <a:ext cx="3119856" cy="4660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DIGNITY</a:t>
            </a:r>
            <a:endParaRPr lang="en-US" sz="2800" dirty="0"/>
          </a:p>
        </p:txBody>
      </p:sp>
      <p:sp>
        <p:nvSpPr>
          <p:cNvPr id="23" name="txt-11"/>
          <p:cNvSpPr/>
          <p:nvPr/>
        </p:nvSpPr>
        <p:spPr>
          <a:xfrm>
            <a:off x="8328908" y="3321745"/>
            <a:ext cx="3119856" cy="7413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keeping dignity intact: no stopping, no staring at a screen, no needing a guide everywhere you go.</a:t>
            </a:r>
            <a:endParaRPr lang="en-US" sz="1250" dirty="0"/>
          </a:p>
        </p:txBody>
      </p:sp>
      <p:sp>
        <p:nvSpPr>
          <p:cNvPr id="24" name="txt-12"/>
          <p:cNvSpPr/>
          <p:nvPr/>
        </p:nvSpPr>
        <p:spPr>
          <a:xfrm>
            <a:off x="634984" y="4653657"/>
            <a:ext cx="8407190" cy="619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gap is navigation: genuinely hands-free, genuinely affordable, built around the journey — not around reading.</a:t>
            </a:r>
            <a:endParaRPr lang="en-US" sz="1600" dirty="0"/>
          </a:p>
        </p:txBody>
      </p:sp>
      <p:sp>
        <p:nvSpPr>
          <p:cNvPr id="25" name="svg-0"/>
          <p:cNvSpPr/>
          <p:nvPr/>
        </p:nvSpPr>
        <p:spPr>
          <a:xfrm>
            <a:off x="634984" y="2242245"/>
            <a:ext cx="3488146" cy="0"/>
          </a:xfrm>
          <a:prstGeom prst="line">
            <a:avLst/>
          </a:prstGeom>
          <a:ln w="76200">
            <a:solidFill>
              <a:srgbClr val="D8E516"/>
            </a:solidFill>
            <a:prstDash val="solid"/>
          </a:ln>
        </p:spPr>
      </p:sp>
      <p:sp>
        <p:nvSpPr>
          <p:cNvPr id="26" name="svg-1"/>
          <p:cNvSpPr/>
          <p:nvPr/>
        </p:nvSpPr>
        <p:spPr>
          <a:xfrm>
            <a:off x="4123131" y="2242245"/>
            <a:ext cx="0" cy="2055813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7" name="svg-2"/>
          <p:cNvSpPr/>
          <p:nvPr/>
        </p:nvSpPr>
        <p:spPr>
          <a:xfrm>
            <a:off x="634984" y="4298057"/>
            <a:ext cx="3488146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8" name="svg-3"/>
          <p:cNvSpPr/>
          <p:nvPr/>
        </p:nvSpPr>
        <p:spPr>
          <a:xfrm>
            <a:off x="634984" y="2242245"/>
            <a:ext cx="0" cy="2055813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9" name="svg-4"/>
          <p:cNvSpPr/>
          <p:nvPr/>
        </p:nvSpPr>
        <p:spPr>
          <a:xfrm>
            <a:off x="4351725" y="2242245"/>
            <a:ext cx="3488246" cy="0"/>
          </a:xfrm>
          <a:prstGeom prst="line">
            <a:avLst/>
          </a:prstGeom>
          <a:ln w="76200">
            <a:solidFill>
              <a:srgbClr val="D8E516"/>
            </a:solidFill>
            <a:prstDash val="solid"/>
          </a:ln>
        </p:spPr>
      </p:sp>
      <p:sp>
        <p:nvSpPr>
          <p:cNvPr id="30" name="svg-5"/>
          <p:cNvSpPr/>
          <p:nvPr/>
        </p:nvSpPr>
        <p:spPr>
          <a:xfrm>
            <a:off x="7839970" y="2242245"/>
            <a:ext cx="0" cy="2055813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1" name="svg-6"/>
          <p:cNvSpPr/>
          <p:nvPr/>
        </p:nvSpPr>
        <p:spPr>
          <a:xfrm>
            <a:off x="4351725" y="4298057"/>
            <a:ext cx="3488246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2" name="svg-7"/>
          <p:cNvSpPr/>
          <p:nvPr/>
        </p:nvSpPr>
        <p:spPr>
          <a:xfrm>
            <a:off x="4351725" y="2242245"/>
            <a:ext cx="0" cy="2055813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3" name="svg-8"/>
          <p:cNvSpPr/>
          <p:nvPr/>
        </p:nvSpPr>
        <p:spPr>
          <a:xfrm>
            <a:off x="8068565" y="2242245"/>
            <a:ext cx="3488146" cy="0"/>
          </a:xfrm>
          <a:prstGeom prst="line">
            <a:avLst/>
          </a:prstGeom>
          <a:ln w="76200">
            <a:solidFill>
              <a:srgbClr val="D8E516"/>
            </a:solidFill>
            <a:prstDash val="solid"/>
          </a:ln>
        </p:spPr>
      </p:sp>
      <p:sp>
        <p:nvSpPr>
          <p:cNvPr id="34" name="svg-9"/>
          <p:cNvSpPr/>
          <p:nvPr/>
        </p:nvSpPr>
        <p:spPr>
          <a:xfrm>
            <a:off x="11556711" y="2242245"/>
            <a:ext cx="0" cy="2055813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5" name="svg-10"/>
          <p:cNvSpPr/>
          <p:nvPr/>
        </p:nvSpPr>
        <p:spPr>
          <a:xfrm>
            <a:off x="8068565" y="4298057"/>
            <a:ext cx="3488146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6" name="svg-11"/>
          <p:cNvSpPr/>
          <p:nvPr/>
        </p:nvSpPr>
        <p:spPr>
          <a:xfrm>
            <a:off x="8068565" y="2242245"/>
            <a:ext cx="0" cy="2055813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12-StageDivider-0/pg12-Chrome-2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12-StageDivider-0/pg12-Chrome-2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12-StageDivider-0/pg12-Chrome-2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12-Halftone-3:pg12-StageDivider-0/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98500"/>
          </a:xfrm>
          <a:prstGeom prst="rect">
            <a:avLst/>
          </a:prstGeom>
        </p:spPr>
      </p:pic>
      <p:sp>
        <p:nvSpPr>
          <p:cNvPr id="5" name="pg12-StageDivider-0/pg12-Tag-4/txt-2"/>
          <p:cNvSpPr/>
          <p:nvPr/>
        </p:nvSpPr>
        <p:spPr>
          <a:xfrm>
            <a:off x="2990775" y="1168400"/>
            <a:ext cx="871833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STAGE 04 // DESIGN THINKING</a:t>
            </a:r>
            <a:endParaRPr lang="en-US" sz="950" dirty="0"/>
          </a:p>
        </p:txBody>
      </p:sp>
      <p:grpSp>
        <p:nvGrpSpPr>
          <p:cNvPr id="1001" name="pg12-StageDivider-0/pg12-LoopRail-5"/>
          <p:cNvGrpSpPr/>
          <p:nvPr/>
        </p:nvGrpSpPr>
        <p:grpSpPr>
          <a:xfrm>
            <a:off x="634984" y="5461000"/>
            <a:ext cx="11074123" cy="933450"/>
            <a:chOff x="634984" y="5461000"/>
            <a:chExt cx="11074123" cy="933450"/>
          </a:xfrm>
        </p:grpSpPr>
        <p:sp>
          <p:nvSpPr>
            <p:cNvPr id="6" name="pg12-StageDivider-0/pg12-LoopRail-5/decor-1"/>
            <p:cNvSpPr/>
            <p:nvPr/>
          </p:nvSpPr>
          <p:spPr>
            <a:xfrm>
              <a:off x="1206470" y="563245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7" name="pg12-StageDivider-0/pg12-LoopRail-5/decor-2"/>
            <p:cNvSpPr/>
            <p:nvPr/>
          </p:nvSpPr>
          <p:spPr>
            <a:xfrm>
              <a:off x="1092173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8" name="pg12-StageDivider-0/pg12-LoopRail-5/decor-3"/>
            <p:cNvSpPr/>
            <p:nvPr/>
          </p:nvSpPr>
          <p:spPr>
            <a:xfrm>
              <a:off x="3022524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9" name="pg12-StageDivider-0/pg12-LoopRail-5/decor-4"/>
            <p:cNvSpPr/>
            <p:nvPr/>
          </p:nvSpPr>
          <p:spPr>
            <a:xfrm>
              <a:off x="4952876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0" name="pg12-StageDivider-0/pg12-LoopRail-5/decor-5"/>
            <p:cNvSpPr/>
            <p:nvPr/>
          </p:nvSpPr>
          <p:spPr>
            <a:xfrm>
              <a:off x="6883228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11" name="pg12-StageDivider-0/pg12-LoopRail-5/decor-6"/>
            <p:cNvSpPr/>
            <p:nvPr/>
          </p:nvSpPr>
          <p:spPr>
            <a:xfrm>
              <a:off x="8813580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2" name="pg12-StageDivider-0/pg12-LoopRail-5/decor-7"/>
            <p:cNvSpPr/>
            <p:nvPr/>
          </p:nvSpPr>
          <p:spPr>
            <a:xfrm>
              <a:off x="10743931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3" name="pg12-StageDivider-0/pg12-LoopRail-5/decor-8"/>
            <p:cNvSpPr/>
            <p:nvPr/>
          </p:nvSpPr>
          <p:spPr>
            <a:xfrm>
              <a:off x="1206470" y="581025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4" name="pg12-StageDivider-0/pg12-LoopRail-5/decor-9"/>
            <p:cNvSpPr/>
            <p:nvPr/>
          </p:nvSpPr>
          <p:spPr>
            <a:xfrm>
              <a:off x="1130272" y="571500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5" name="pg12-StageDivider-0/pg12-LoopRail-5/txt-5"/>
            <p:cNvSpPr/>
            <p:nvPr/>
          </p:nvSpPr>
          <p:spPr>
            <a:xfrm>
              <a:off x="1092173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16" name="pg12-StageDivider-0/pg12-LoopRail-5/txt-6"/>
            <p:cNvSpPr/>
            <p:nvPr/>
          </p:nvSpPr>
          <p:spPr>
            <a:xfrm>
              <a:off x="3022524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7" name="pg12-StageDivider-0/pg12-LoopRail-5/txt-7"/>
            <p:cNvSpPr/>
            <p:nvPr/>
          </p:nvSpPr>
          <p:spPr>
            <a:xfrm>
              <a:off x="4952876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8" name="pg12-StageDivider-0/pg12-LoopRail-5/txt-8"/>
            <p:cNvSpPr/>
            <p:nvPr/>
          </p:nvSpPr>
          <p:spPr>
            <a:xfrm>
              <a:off x="6883228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19" name="pg12-StageDivider-0/pg12-LoopRail-5/txt-9"/>
            <p:cNvSpPr/>
            <p:nvPr/>
          </p:nvSpPr>
          <p:spPr>
            <a:xfrm>
              <a:off x="8813580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0" name="pg12-StageDivider-0/pg12-LoopRail-5/txt-10"/>
            <p:cNvSpPr/>
            <p:nvPr/>
          </p:nvSpPr>
          <p:spPr>
            <a:xfrm>
              <a:off x="10743931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1" name="pg12-StageDivider-0/pg12-LoopRail-5/txt-11"/>
            <p:cNvSpPr/>
            <p:nvPr/>
          </p:nvSpPr>
          <p:spPr>
            <a:xfrm>
              <a:off x="634984" y="621030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2" name="pg12-StageDivider-0/pg12-LoopRail-5/svg-0"/>
            <p:cNvSpPr/>
            <p:nvPr/>
          </p:nvSpPr>
          <p:spPr>
            <a:xfrm>
              <a:off x="10985225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3" name="pg12-StageDivider-0/pg12-LoopRail-5/svg-1"/>
            <p:cNvSpPr/>
            <p:nvPr/>
          </p:nvSpPr>
          <p:spPr>
            <a:xfrm>
              <a:off x="1206470" y="614045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4" name="pg12-StageDivider-0/pg12-LoopRail-5/svg-2"/>
            <p:cNvSpPr/>
            <p:nvPr/>
          </p:nvSpPr>
          <p:spPr>
            <a:xfrm>
              <a:off x="1206470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5" name="pg12-StageDivider-0/pg12-LoopRail-5/svg-3"/>
            <p:cNvSpPr/>
            <p:nvPr/>
          </p:nvSpPr>
          <p:spPr>
            <a:xfrm>
              <a:off x="1219170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26" name="pg12-StageDivider-0/pg12-LoopRail-5/svg-4"/>
            <p:cNvSpPr/>
            <p:nvPr/>
          </p:nvSpPr>
          <p:spPr>
            <a:xfrm>
              <a:off x="1130272" y="581660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27" name="pg12-StageDivider-0/pg12-LoopRail-5/svg-5"/>
            <p:cNvSpPr/>
            <p:nvPr/>
          </p:nvSpPr>
          <p:spPr>
            <a:xfrm>
              <a:off x="1130272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28" name="pg12-StageDivider-0/txt-1"/>
          <p:cNvSpPr/>
          <p:nvPr/>
        </p:nvSpPr>
        <p:spPr>
          <a:xfrm>
            <a:off x="634984" y="952500"/>
            <a:ext cx="2644709" cy="2095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04</a:t>
            </a:r>
            <a:endParaRPr lang="en-US" sz="16500" dirty="0"/>
          </a:p>
        </p:txBody>
      </p:sp>
      <p:sp>
        <p:nvSpPr>
          <p:cNvPr id="29" name="pg12-StageDivider-0/txt-3"/>
          <p:cNvSpPr/>
          <p:nvPr/>
        </p:nvSpPr>
        <p:spPr>
          <a:xfrm>
            <a:off x="2990775" y="1422400"/>
            <a:ext cx="8850409" cy="894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IDEATE</a:t>
            </a:r>
            <a:endParaRPr lang="en-US" sz="6400" dirty="0"/>
          </a:p>
        </p:txBody>
      </p:sp>
      <p:sp>
        <p:nvSpPr>
          <p:cNvPr id="30" name="pg12-StageDivider-0/txt-4"/>
          <p:cNvSpPr/>
          <p:nvPr/>
        </p:nvSpPr>
        <p:spPr>
          <a:xfrm>
            <a:off x="2990775" y="2410420"/>
            <a:ext cx="6819730" cy="7022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What should this device be — and, just as important, what should it never be?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13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13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13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4" name="pg13-Tag-2/txt-1"/>
          <p:cNvSpPr/>
          <p:nvPr/>
        </p:nvSpPr>
        <p:spPr>
          <a:xfrm>
            <a:off x="634984" y="10160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04 IDEATE — THE DECISION</a:t>
            </a:r>
            <a:endParaRPr lang="en-US" sz="950" dirty="0"/>
          </a:p>
        </p:txBody>
      </p:sp>
      <p:sp>
        <p:nvSpPr>
          <p:cNvPr id="5" name="pg13-Rule-3/decor-1"/>
          <p:cNvSpPr/>
          <p:nvPr/>
        </p:nvSpPr>
        <p:spPr>
          <a:xfrm>
            <a:off x="634984" y="2783681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6" name="pg13-Rule-4/decor-2"/>
          <p:cNvSpPr/>
          <p:nvPr/>
        </p:nvSpPr>
        <p:spPr>
          <a:xfrm>
            <a:off x="634984" y="373995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7" name="pg13-Rule-5/decor-3"/>
          <p:cNvSpPr/>
          <p:nvPr/>
        </p:nvSpPr>
        <p:spPr>
          <a:xfrm>
            <a:off x="634984" y="469622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8" name="pg13-Rule-6/decor-4"/>
          <p:cNvSpPr/>
          <p:nvPr/>
        </p:nvSpPr>
        <p:spPr>
          <a:xfrm>
            <a:off x="634984" y="5652492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9" name="txt-2"/>
          <p:cNvSpPr/>
          <p:nvPr/>
        </p:nvSpPr>
        <p:spPr>
          <a:xfrm>
            <a:off x="634984" y="1308100"/>
            <a:ext cx="10042274" cy="12057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NOT A SMARTER CANE — </a:t>
            </a:r>
            <a:pPr algn="l" indent="0" marL="0">
              <a:buNone/>
            </a:pPr>
            <a:r>
              <a:rPr lang="en-US" sz="45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 GUIDE FOR THE JOURNEY.</a:t>
            </a:r>
            <a:endParaRPr lang="en-US" sz="4500" dirty="0"/>
          </a:p>
        </p:txBody>
      </p:sp>
      <p:sp>
        <p:nvSpPr>
          <p:cNvPr id="10" name="txt-3"/>
          <p:cNvSpPr/>
          <p:nvPr/>
        </p:nvSpPr>
        <p:spPr>
          <a:xfrm>
            <a:off x="634984" y="3005931"/>
            <a:ext cx="1104872" cy="266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RULE 01</a:t>
            </a:r>
            <a:endParaRPr lang="en-US" sz="1050" dirty="0"/>
          </a:p>
        </p:txBody>
      </p:sp>
      <p:sp>
        <p:nvSpPr>
          <p:cNvPr id="11" name="txt-4"/>
          <p:cNvSpPr/>
          <p:nvPr/>
        </p:nvSpPr>
        <p:spPr>
          <a:xfrm>
            <a:off x="1904952" y="3005931"/>
            <a:ext cx="3200320" cy="452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AUDIO-FIRST</a:t>
            </a:r>
            <a:endParaRPr lang="en-US" sz="3100" dirty="0"/>
          </a:p>
        </p:txBody>
      </p:sp>
      <p:sp>
        <p:nvSpPr>
          <p:cNvPr id="12" name="txt-5"/>
          <p:cNvSpPr/>
          <p:nvPr/>
        </p:nvSpPr>
        <p:spPr>
          <a:xfrm>
            <a:off x="5270368" y="3005931"/>
            <a:ext cx="6438739" cy="568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one clear voice in the ear. eyes, hands and hearing stay exactly where they belong — on the world.</a:t>
            </a:r>
            <a:endParaRPr lang="en-US" sz="1350" dirty="0"/>
          </a:p>
        </p:txBody>
      </p:sp>
      <p:sp>
        <p:nvSpPr>
          <p:cNvPr id="13" name="txt-6"/>
          <p:cNvSpPr/>
          <p:nvPr/>
        </p:nvSpPr>
        <p:spPr>
          <a:xfrm>
            <a:off x="634984" y="3962202"/>
            <a:ext cx="1104872" cy="266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RULE 02</a:t>
            </a:r>
            <a:endParaRPr lang="en-US" sz="1050" dirty="0"/>
          </a:p>
        </p:txBody>
      </p:sp>
      <p:sp>
        <p:nvSpPr>
          <p:cNvPr id="14" name="txt-7"/>
          <p:cNvSpPr/>
          <p:nvPr/>
        </p:nvSpPr>
        <p:spPr>
          <a:xfrm>
            <a:off x="1904952" y="3962202"/>
            <a:ext cx="3200320" cy="452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CANE-AWARE</a:t>
            </a:r>
            <a:endParaRPr lang="en-US" sz="3100" dirty="0"/>
          </a:p>
        </p:txBody>
      </p:sp>
      <p:sp>
        <p:nvSpPr>
          <p:cNvPr id="15" name="txt-8"/>
          <p:cNvSpPr/>
          <p:nvPr/>
        </p:nvSpPr>
        <p:spPr>
          <a:xfrm>
            <a:off x="5270368" y="3962202"/>
            <a:ext cx="6438739" cy="568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cane stays the ground sensor. we detect only what it cannot feel — head-height and beyond.</a:t>
            </a:r>
            <a:endParaRPr lang="en-US" sz="1350" dirty="0"/>
          </a:p>
        </p:txBody>
      </p:sp>
      <p:sp>
        <p:nvSpPr>
          <p:cNvPr id="16" name="txt-9"/>
          <p:cNvSpPr/>
          <p:nvPr/>
        </p:nvSpPr>
        <p:spPr>
          <a:xfrm>
            <a:off x="634984" y="4918472"/>
            <a:ext cx="1104872" cy="266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RULE 03</a:t>
            </a:r>
            <a:endParaRPr lang="en-US" sz="1050" dirty="0"/>
          </a:p>
        </p:txBody>
      </p:sp>
      <p:sp>
        <p:nvSpPr>
          <p:cNvPr id="17" name="txt-10"/>
          <p:cNvSpPr/>
          <p:nvPr/>
        </p:nvSpPr>
        <p:spPr>
          <a:xfrm>
            <a:off x="1904952" y="4918472"/>
            <a:ext cx="3200320" cy="452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NAVIGATION-FIRST</a:t>
            </a:r>
            <a:endParaRPr lang="en-US" sz="3100" dirty="0"/>
          </a:p>
        </p:txBody>
      </p:sp>
      <p:sp>
        <p:nvSpPr>
          <p:cNvPr id="18" name="txt-11"/>
          <p:cNvSpPr/>
          <p:nvPr/>
        </p:nvSpPr>
        <p:spPr>
          <a:xfrm>
            <a:off x="5270368" y="4918472"/>
            <a:ext cx="6438739" cy="568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directions, bus arrivals, arrival alerts — the whole journey end to end, not another reading gadget.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14-StageDivider-0/pg14-Chrome-2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14-StageDivider-0/pg14-Chrome-2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14-StageDivider-0/pg14-Chrome-2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14-Halftone-3:pg14-StageDivider-0/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98500"/>
          </a:xfrm>
          <a:prstGeom prst="rect">
            <a:avLst/>
          </a:prstGeom>
        </p:spPr>
      </p:pic>
      <p:sp>
        <p:nvSpPr>
          <p:cNvPr id="5" name="pg14-StageDivider-0/pg14-Tag-4/txt-2"/>
          <p:cNvSpPr/>
          <p:nvPr/>
        </p:nvSpPr>
        <p:spPr>
          <a:xfrm>
            <a:off x="2990775" y="1168400"/>
            <a:ext cx="871833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STAGE 05 // DESIGN THINKING</a:t>
            </a:r>
            <a:endParaRPr lang="en-US" sz="950" dirty="0"/>
          </a:p>
        </p:txBody>
      </p:sp>
      <p:grpSp>
        <p:nvGrpSpPr>
          <p:cNvPr id="1001" name="pg14-StageDivider-0/pg14-LoopRail-5"/>
          <p:cNvGrpSpPr/>
          <p:nvPr/>
        </p:nvGrpSpPr>
        <p:grpSpPr>
          <a:xfrm>
            <a:off x="634984" y="5461000"/>
            <a:ext cx="11074123" cy="933450"/>
            <a:chOff x="634984" y="5461000"/>
            <a:chExt cx="11074123" cy="933450"/>
          </a:xfrm>
        </p:grpSpPr>
        <p:sp>
          <p:nvSpPr>
            <p:cNvPr id="6" name="pg14-StageDivider-0/pg14-LoopRail-5/decor-1"/>
            <p:cNvSpPr/>
            <p:nvPr/>
          </p:nvSpPr>
          <p:spPr>
            <a:xfrm>
              <a:off x="1206470" y="563245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7" name="pg14-StageDivider-0/pg14-LoopRail-5/decor-2"/>
            <p:cNvSpPr/>
            <p:nvPr/>
          </p:nvSpPr>
          <p:spPr>
            <a:xfrm>
              <a:off x="1092173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8" name="pg14-StageDivider-0/pg14-LoopRail-5/decor-3"/>
            <p:cNvSpPr/>
            <p:nvPr/>
          </p:nvSpPr>
          <p:spPr>
            <a:xfrm>
              <a:off x="3022524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9" name="pg14-StageDivider-0/pg14-LoopRail-5/decor-4"/>
            <p:cNvSpPr/>
            <p:nvPr/>
          </p:nvSpPr>
          <p:spPr>
            <a:xfrm>
              <a:off x="4952876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0" name="pg14-StageDivider-0/pg14-LoopRail-5/decor-5"/>
            <p:cNvSpPr/>
            <p:nvPr/>
          </p:nvSpPr>
          <p:spPr>
            <a:xfrm>
              <a:off x="6883228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1" name="pg14-StageDivider-0/pg14-LoopRail-5/decor-6"/>
            <p:cNvSpPr/>
            <p:nvPr/>
          </p:nvSpPr>
          <p:spPr>
            <a:xfrm>
              <a:off x="8813580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12" name="pg14-StageDivider-0/pg14-LoopRail-5/decor-7"/>
            <p:cNvSpPr/>
            <p:nvPr/>
          </p:nvSpPr>
          <p:spPr>
            <a:xfrm>
              <a:off x="10743931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0A0A08"/>
            </a:solidFill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13" name="pg14-StageDivider-0/pg14-LoopRail-5/decor-8"/>
            <p:cNvSpPr/>
            <p:nvPr/>
          </p:nvSpPr>
          <p:spPr>
            <a:xfrm>
              <a:off x="1206470" y="581025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4" name="pg14-StageDivider-0/pg14-LoopRail-5/decor-9"/>
            <p:cNvSpPr/>
            <p:nvPr/>
          </p:nvSpPr>
          <p:spPr>
            <a:xfrm>
              <a:off x="1130272" y="571500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5" name="pg14-StageDivider-0/pg14-LoopRail-5/txt-5"/>
            <p:cNvSpPr/>
            <p:nvPr/>
          </p:nvSpPr>
          <p:spPr>
            <a:xfrm>
              <a:off x="1092173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16" name="pg14-StageDivider-0/pg14-LoopRail-5/txt-6"/>
            <p:cNvSpPr/>
            <p:nvPr/>
          </p:nvSpPr>
          <p:spPr>
            <a:xfrm>
              <a:off x="3022524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7" name="pg14-StageDivider-0/pg14-LoopRail-5/txt-7"/>
            <p:cNvSpPr/>
            <p:nvPr/>
          </p:nvSpPr>
          <p:spPr>
            <a:xfrm>
              <a:off x="4952876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8" name="pg14-StageDivider-0/pg14-LoopRail-5/txt-8"/>
            <p:cNvSpPr/>
            <p:nvPr/>
          </p:nvSpPr>
          <p:spPr>
            <a:xfrm>
              <a:off x="6883228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19" name="pg14-StageDivider-0/pg14-LoopRail-5/txt-9"/>
            <p:cNvSpPr/>
            <p:nvPr/>
          </p:nvSpPr>
          <p:spPr>
            <a:xfrm>
              <a:off x="8813580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0" name="pg14-StageDivider-0/pg14-LoopRail-5/txt-10"/>
            <p:cNvSpPr/>
            <p:nvPr/>
          </p:nvSpPr>
          <p:spPr>
            <a:xfrm>
              <a:off x="10743931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8B8B7E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1" name="pg14-StageDivider-0/pg14-LoopRail-5/txt-11"/>
            <p:cNvSpPr/>
            <p:nvPr/>
          </p:nvSpPr>
          <p:spPr>
            <a:xfrm>
              <a:off x="634984" y="621030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2" name="pg14-StageDivider-0/pg14-LoopRail-5/svg-0"/>
            <p:cNvSpPr/>
            <p:nvPr/>
          </p:nvSpPr>
          <p:spPr>
            <a:xfrm>
              <a:off x="10985225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3" name="pg14-StageDivider-0/pg14-LoopRail-5/svg-1"/>
            <p:cNvSpPr/>
            <p:nvPr/>
          </p:nvSpPr>
          <p:spPr>
            <a:xfrm>
              <a:off x="1206470" y="614045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4" name="pg14-StageDivider-0/pg14-LoopRail-5/svg-2"/>
            <p:cNvSpPr/>
            <p:nvPr/>
          </p:nvSpPr>
          <p:spPr>
            <a:xfrm>
              <a:off x="1206470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5" name="pg14-StageDivider-0/pg14-LoopRail-5/svg-3"/>
            <p:cNvSpPr/>
            <p:nvPr/>
          </p:nvSpPr>
          <p:spPr>
            <a:xfrm>
              <a:off x="1219170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26" name="pg14-StageDivider-0/pg14-LoopRail-5/svg-4"/>
            <p:cNvSpPr/>
            <p:nvPr/>
          </p:nvSpPr>
          <p:spPr>
            <a:xfrm>
              <a:off x="1130272" y="581660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27" name="pg14-StageDivider-0/pg14-LoopRail-5/svg-5"/>
            <p:cNvSpPr/>
            <p:nvPr/>
          </p:nvSpPr>
          <p:spPr>
            <a:xfrm>
              <a:off x="1130272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28" name="pg14-StageDivider-0/txt-1"/>
          <p:cNvSpPr/>
          <p:nvPr/>
        </p:nvSpPr>
        <p:spPr>
          <a:xfrm>
            <a:off x="634984" y="952500"/>
            <a:ext cx="2644709" cy="2095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05</a:t>
            </a:r>
            <a:endParaRPr lang="en-US" sz="16500" dirty="0"/>
          </a:p>
        </p:txBody>
      </p:sp>
      <p:sp>
        <p:nvSpPr>
          <p:cNvPr id="29" name="pg14-StageDivider-0/txt-3"/>
          <p:cNvSpPr/>
          <p:nvPr/>
        </p:nvSpPr>
        <p:spPr>
          <a:xfrm>
            <a:off x="2990775" y="1422400"/>
            <a:ext cx="8850409" cy="894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PROTOTYPE</a:t>
            </a:r>
            <a:endParaRPr lang="en-US" sz="6400" dirty="0"/>
          </a:p>
        </p:txBody>
      </p:sp>
      <p:sp>
        <p:nvSpPr>
          <p:cNvPr id="30" name="pg14-StageDivider-0/txt-4"/>
          <p:cNvSpPr/>
          <p:nvPr/>
        </p:nvSpPr>
        <p:spPr>
          <a:xfrm>
            <a:off x="2990775" y="2410420"/>
            <a:ext cx="6819730" cy="7022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Three iterations later, here is what we actually built — and the engineering underneath it.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5"/>
          <p:cNvSpPr/>
          <p:nvPr/>
        </p:nvSpPr>
        <p:spPr>
          <a:xfrm>
            <a:off x="5905352" y="952500"/>
            <a:ext cx="5651359" cy="5270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3" name="decor-6"/>
          <p:cNvSpPr/>
          <p:nvPr/>
        </p:nvSpPr>
        <p:spPr>
          <a:xfrm>
            <a:off x="5911702" y="5886450"/>
            <a:ext cx="5638659" cy="330200"/>
          </a:xfrm>
          <a:prstGeom prst="rect">
            <a:avLst/>
          </a:prstGeom>
          <a:solidFill>
            <a:srgbClr val="0A0A08"/>
          </a:solidFill>
          <a:ln/>
        </p:spPr>
      </p:sp>
      <p:grpSp>
        <p:nvGrpSpPr>
          <p:cNvPr id="1000" name="pg15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4" name="pg15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5" name="pg15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6" name="pg15-Tag-2/txt-1"/>
          <p:cNvSpPr/>
          <p:nvPr/>
        </p:nvSpPr>
        <p:spPr>
          <a:xfrm>
            <a:off x="634984" y="952500"/>
            <a:ext cx="497827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05 PROTOTYPE — WHAT IT IS</a:t>
            </a:r>
            <a:endParaRPr lang="en-US" sz="950" dirty="0"/>
          </a:p>
        </p:txBody>
      </p:sp>
      <p:sp>
        <p:nvSpPr>
          <p:cNvPr id="7" name="pg15-Rule-3/decor-1"/>
          <p:cNvSpPr/>
          <p:nvPr/>
        </p:nvSpPr>
        <p:spPr>
          <a:xfrm>
            <a:off x="634984" y="4092178"/>
            <a:ext cx="4825879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8" name="pg15-Rule-4/decor-2"/>
          <p:cNvSpPr/>
          <p:nvPr/>
        </p:nvSpPr>
        <p:spPr>
          <a:xfrm>
            <a:off x="634984" y="4859139"/>
            <a:ext cx="4825879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9" name="pg15-Rule-5/decor-3"/>
          <p:cNvSpPr/>
          <p:nvPr/>
        </p:nvSpPr>
        <p:spPr>
          <a:xfrm>
            <a:off x="634984" y="5626100"/>
            <a:ext cx="4825879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0" name="pg15-Rule-6/decor-4"/>
          <p:cNvSpPr/>
          <p:nvPr/>
        </p:nvSpPr>
        <p:spPr>
          <a:xfrm>
            <a:off x="634984" y="6393061"/>
            <a:ext cx="4825879" cy="45720"/>
          </a:xfrm>
          <a:prstGeom prst="rect">
            <a:avLst/>
          </a:prstGeom>
          <a:solidFill>
            <a:srgbClr val="2F2F2C"/>
          </a:solidFill>
          <a:ln/>
        </p:spPr>
      </p:sp>
      <p:pic>
        <p:nvPicPr>
          <p:cNvPr id="11" name="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1702" y="958850"/>
            <a:ext cx="5638659" cy="5257800"/>
          </a:xfrm>
          <a:prstGeom prst="rect">
            <a:avLst/>
          </a:prstGeom>
        </p:spPr>
      </p:pic>
      <p:sp>
        <p:nvSpPr>
          <p:cNvPr id="12" name="txt-2"/>
          <p:cNvSpPr/>
          <p:nvPr/>
        </p:nvSpPr>
        <p:spPr>
          <a:xfrm>
            <a:off x="634984" y="1244600"/>
            <a:ext cx="5012565" cy="16480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GLASSES THAT TALK YOU THROUGH THE JOURNEY</a:t>
            </a:r>
            <a:endParaRPr lang="en-US" sz="4200" dirty="0"/>
          </a:p>
        </p:txBody>
      </p:sp>
      <p:sp>
        <p:nvSpPr>
          <p:cNvPr id="13" name="txt-3"/>
          <p:cNvSpPr/>
          <p:nvPr/>
        </p:nvSpPr>
        <p:spPr>
          <a:xfrm>
            <a:off x="634984" y="3041253"/>
            <a:ext cx="4978276" cy="8223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open-ear audio — you hear Cortex </a:t>
            </a:r>
            <a:pPr algn="l" indent="0" marL="0">
              <a:buNone/>
            </a:pPr>
            <a:r>
              <a:rPr lang="en-US" sz="1350" i="1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and</a:t>
            </a:r>
            <a:pPr algn="l" indent="0" marL="0">
              <a:buNone/>
            </a:pPr>
            <a:r>
              <a:rPr lang="en-US" sz="13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the traffic. a dual camera watches ahead; a Raspberry Pi 5 with an AI accelerator does the thinking. your phone stays in your pocket.</a:t>
            </a:r>
            <a:endParaRPr lang="en-US" sz="1350" dirty="0"/>
          </a:p>
        </p:txBody>
      </p:sp>
      <p:sp>
        <p:nvSpPr>
          <p:cNvPr id="14" name="txt-4"/>
          <p:cNvSpPr/>
          <p:nvPr/>
        </p:nvSpPr>
        <p:spPr>
          <a:xfrm>
            <a:off x="634984" y="4365228"/>
            <a:ext cx="36432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xt-5"/>
          <p:cNvSpPr/>
          <p:nvPr/>
        </p:nvSpPr>
        <p:spPr>
          <a:xfrm>
            <a:off x="1062805" y="4238228"/>
            <a:ext cx="1739857" cy="342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GET THERE</a:t>
            </a:r>
            <a:endParaRPr lang="en-US" sz="2000" dirty="0"/>
          </a:p>
        </p:txBody>
      </p:sp>
      <p:sp>
        <p:nvSpPr>
          <p:cNvPr id="16" name="txt-6"/>
          <p:cNvSpPr/>
          <p:nvPr/>
        </p:nvSpPr>
        <p:spPr>
          <a:xfrm>
            <a:off x="2866160" y="4308078"/>
            <a:ext cx="2747100" cy="4621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spoken turn-by-turn directions and bus routes</a:t>
            </a:r>
            <a:endParaRPr lang="en-US" sz="1200" dirty="0"/>
          </a:p>
        </p:txBody>
      </p:sp>
      <p:sp>
        <p:nvSpPr>
          <p:cNvPr id="17" name="txt-7"/>
          <p:cNvSpPr/>
          <p:nvPr/>
        </p:nvSpPr>
        <p:spPr>
          <a:xfrm>
            <a:off x="634984" y="5132189"/>
            <a:ext cx="33465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xt-8"/>
          <p:cNvSpPr/>
          <p:nvPr/>
        </p:nvSpPr>
        <p:spPr>
          <a:xfrm>
            <a:off x="1033139" y="5005189"/>
            <a:ext cx="1739857" cy="342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DON'T STOP</a:t>
            </a:r>
            <a:endParaRPr lang="en-US" sz="2000" dirty="0"/>
          </a:p>
        </p:txBody>
      </p:sp>
      <p:sp>
        <p:nvSpPr>
          <p:cNvPr id="19" name="txt-9"/>
          <p:cNvSpPr/>
          <p:nvPr/>
        </p:nvSpPr>
        <p:spPr>
          <a:xfrm>
            <a:off x="2836494" y="5075039"/>
            <a:ext cx="2776766" cy="4621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head-height hazards called out before you reach them</a:t>
            </a:r>
            <a:endParaRPr lang="en-US" sz="1200" dirty="0"/>
          </a:p>
        </p:txBody>
      </p:sp>
      <p:sp>
        <p:nvSpPr>
          <p:cNvPr id="20" name="txt-10"/>
          <p:cNvSpPr/>
          <p:nvPr/>
        </p:nvSpPr>
        <p:spPr>
          <a:xfrm>
            <a:off x="634984" y="5899150"/>
            <a:ext cx="356286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xt-11"/>
          <p:cNvSpPr/>
          <p:nvPr/>
        </p:nvSpPr>
        <p:spPr>
          <a:xfrm>
            <a:off x="1054768" y="5772150"/>
            <a:ext cx="1739857" cy="342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RIDE THE BUS</a:t>
            </a:r>
            <a:endParaRPr lang="en-US" sz="2000" dirty="0"/>
          </a:p>
        </p:txBody>
      </p:sp>
      <p:sp>
        <p:nvSpPr>
          <p:cNvPr id="22" name="txt-12"/>
          <p:cNvSpPr/>
          <p:nvPr/>
        </p:nvSpPr>
        <p:spPr>
          <a:xfrm>
            <a:off x="2858123" y="5842000"/>
            <a:ext cx="2755137" cy="4621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live arrival times and a wake-me-up at your stop</a:t>
            </a:r>
            <a:endParaRPr lang="en-US" sz="1200" dirty="0"/>
          </a:p>
        </p:txBody>
      </p:sp>
      <p:sp>
        <p:nvSpPr>
          <p:cNvPr id="23" name="txt-13"/>
          <p:cNvSpPr/>
          <p:nvPr/>
        </p:nvSpPr>
        <p:spPr>
          <a:xfrm>
            <a:off x="5911702" y="5886450"/>
            <a:ext cx="579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PROTOTYPE V3 // OPEN-EAR AUDIO · DUAL CAMERA · PI 5 + NPU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471142"/>
            <a:ext cx="2062409" cy="29962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decor-2"/>
          <p:cNvSpPr/>
          <p:nvPr/>
        </p:nvSpPr>
        <p:spPr>
          <a:xfrm>
            <a:off x="2849789" y="2471142"/>
            <a:ext cx="2062508" cy="2996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4" name="decor-3"/>
          <p:cNvSpPr/>
          <p:nvPr/>
        </p:nvSpPr>
        <p:spPr>
          <a:xfrm>
            <a:off x="5064693" y="2471142"/>
            <a:ext cx="2062409" cy="2996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5" name="decor-4"/>
          <p:cNvSpPr/>
          <p:nvPr/>
        </p:nvSpPr>
        <p:spPr>
          <a:xfrm>
            <a:off x="7279498" y="2471142"/>
            <a:ext cx="2062409" cy="2996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6" name="decor-5"/>
          <p:cNvSpPr/>
          <p:nvPr/>
        </p:nvSpPr>
        <p:spPr>
          <a:xfrm>
            <a:off x="9494302" y="2471142"/>
            <a:ext cx="2062409" cy="2996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7" name="decor-6"/>
          <p:cNvSpPr/>
          <p:nvPr/>
        </p:nvSpPr>
        <p:spPr>
          <a:xfrm>
            <a:off x="634984" y="5721350"/>
            <a:ext cx="10921727" cy="501650"/>
          </a:xfrm>
          <a:prstGeom prst="rect">
            <a:avLst/>
          </a:prstGeom>
          <a:solidFill>
            <a:srgbClr val="D8E516"/>
          </a:solidFill>
          <a:ln/>
        </p:spPr>
      </p:sp>
      <p:grpSp>
        <p:nvGrpSpPr>
          <p:cNvPr id="1000" name="pg16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8" name="pg16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9" name="pg16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10" name="pg16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05 PROTOTYPE — HOW IT THINKS</a:t>
            </a:r>
            <a:endParaRPr lang="en-US" sz="950" dirty="0"/>
          </a:p>
        </p:txBody>
      </p:sp>
      <p:sp>
        <p:nvSpPr>
          <p:cNvPr id="11" name="txt-2"/>
          <p:cNvSpPr/>
          <p:nvPr/>
        </p:nvSpPr>
        <p:spPr>
          <a:xfrm>
            <a:off x="634984" y="1231900"/>
            <a:ext cx="11126192" cy="6601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FIVE SPECIALISTS, ONE VOICE</a:t>
            </a:r>
            <a:endParaRPr lang="en-US" sz="4600" dirty="0"/>
          </a:p>
        </p:txBody>
      </p:sp>
      <p:sp>
        <p:nvSpPr>
          <p:cNvPr id="12" name="txt-3"/>
          <p:cNvSpPr/>
          <p:nvPr/>
        </p:nvSpPr>
        <p:spPr>
          <a:xfrm>
            <a:off x="634984" y="1931392"/>
            <a:ext cx="7137222" cy="273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Cortex runs five cooperating layers — four on the glasses, one in the cloud.</a:t>
            </a:r>
            <a:endParaRPr lang="en-US" sz="1300" dirty="0"/>
          </a:p>
        </p:txBody>
      </p:sp>
      <p:sp>
        <p:nvSpPr>
          <p:cNvPr id="13" name="txt-4"/>
          <p:cNvSpPr/>
          <p:nvPr/>
        </p:nvSpPr>
        <p:spPr>
          <a:xfrm>
            <a:off x="819130" y="2725142"/>
            <a:ext cx="1846514" cy="46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L0</a:t>
            </a:r>
            <a:endParaRPr lang="en-US" sz="3200" dirty="0"/>
          </a:p>
        </p:txBody>
      </p:sp>
      <p:sp>
        <p:nvSpPr>
          <p:cNvPr id="14" name="txt-5"/>
          <p:cNvSpPr/>
          <p:nvPr/>
        </p:nvSpPr>
        <p:spPr>
          <a:xfrm>
            <a:off x="819130" y="3245842"/>
            <a:ext cx="1846514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GUARDIAN</a:t>
            </a:r>
            <a:endParaRPr lang="en-US" sz="950" dirty="0"/>
          </a:p>
        </p:txBody>
      </p:sp>
      <p:sp>
        <p:nvSpPr>
          <p:cNvPr id="15" name="txt-6"/>
          <p:cNvSpPr/>
          <p:nvPr/>
        </p:nvSpPr>
        <p:spPr>
          <a:xfrm>
            <a:off x="819130" y="3487142"/>
            <a:ext cx="1846514" cy="6106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spots hazards and warns in under 100 ms — before cloud could even wake up</a:t>
            </a:r>
            <a:endParaRPr lang="en-US" sz="1050" dirty="0"/>
          </a:p>
        </p:txBody>
      </p:sp>
      <p:sp>
        <p:nvSpPr>
          <p:cNvPr id="16" name="txt-7"/>
          <p:cNvSpPr/>
          <p:nvPr/>
        </p:nvSpPr>
        <p:spPr>
          <a:xfrm>
            <a:off x="3033934" y="2693392"/>
            <a:ext cx="1846613" cy="46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L1</a:t>
            </a:r>
            <a:endParaRPr lang="en-US" sz="3200" dirty="0"/>
          </a:p>
        </p:txBody>
      </p:sp>
      <p:sp>
        <p:nvSpPr>
          <p:cNvPr id="17" name="txt-8"/>
          <p:cNvSpPr/>
          <p:nvPr/>
        </p:nvSpPr>
        <p:spPr>
          <a:xfrm>
            <a:off x="3033934" y="3214092"/>
            <a:ext cx="184661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LEARNER</a:t>
            </a:r>
            <a:endParaRPr lang="en-US" sz="950" dirty="0"/>
          </a:p>
        </p:txBody>
      </p:sp>
      <p:sp>
        <p:nvSpPr>
          <p:cNvPr id="18" name="txt-9"/>
          <p:cNvSpPr/>
          <p:nvPr/>
        </p:nvSpPr>
        <p:spPr>
          <a:xfrm>
            <a:off x="3033934" y="3455392"/>
            <a:ext cx="1846613" cy="6106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recognises places and things, from the bus stop to the kopitiam</a:t>
            </a:r>
            <a:endParaRPr lang="en-US" sz="1050" dirty="0"/>
          </a:p>
        </p:txBody>
      </p:sp>
      <p:sp>
        <p:nvSpPr>
          <p:cNvPr id="19" name="txt-10"/>
          <p:cNvSpPr/>
          <p:nvPr/>
        </p:nvSpPr>
        <p:spPr>
          <a:xfrm>
            <a:off x="5248838" y="2693392"/>
            <a:ext cx="1846514" cy="46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L2</a:t>
            </a:r>
            <a:endParaRPr lang="en-US" sz="3200" dirty="0"/>
          </a:p>
        </p:txBody>
      </p:sp>
      <p:sp>
        <p:nvSpPr>
          <p:cNvPr id="20" name="txt-11"/>
          <p:cNvSpPr/>
          <p:nvPr/>
        </p:nvSpPr>
        <p:spPr>
          <a:xfrm>
            <a:off x="5248838" y="3214092"/>
            <a:ext cx="1846514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THINKER</a:t>
            </a:r>
            <a:endParaRPr lang="en-US" sz="950" dirty="0"/>
          </a:p>
        </p:txBody>
      </p:sp>
      <p:sp>
        <p:nvSpPr>
          <p:cNvPr id="21" name="txt-12"/>
          <p:cNvSpPr/>
          <p:nvPr/>
        </p:nvSpPr>
        <p:spPr>
          <a:xfrm>
            <a:off x="5248838" y="3455392"/>
            <a:ext cx="1846514" cy="4240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 conversational AI brain you can just ask</a:t>
            </a:r>
            <a:endParaRPr lang="en-US" sz="1050" dirty="0"/>
          </a:p>
        </p:txBody>
      </p:sp>
      <p:sp>
        <p:nvSpPr>
          <p:cNvPr id="22" name="txt-13"/>
          <p:cNvSpPr/>
          <p:nvPr/>
        </p:nvSpPr>
        <p:spPr>
          <a:xfrm>
            <a:off x="7463643" y="2693392"/>
            <a:ext cx="1846514" cy="46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L3</a:t>
            </a:r>
            <a:endParaRPr lang="en-US" sz="3200" dirty="0"/>
          </a:p>
        </p:txBody>
      </p:sp>
      <p:sp>
        <p:nvSpPr>
          <p:cNvPr id="23" name="txt-14"/>
          <p:cNvSpPr/>
          <p:nvPr/>
        </p:nvSpPr>
        <p:spPr>
          <a:xfrm>
            <a:off x="7463643" y="3214092"/>
            <a:ext cx="1846514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GUIDE</a:t>
            </a:r>
            <a:endParaRPr lang="en-US" sz="950" dirty="0"/>
          </a:p>
        </p:txBody>
      </p:sp>
      <p:sp>
        <p:nvSpPr>
          <p:cNvPr id="24" name="txt-15"/>
          <p:cNvSpPr/>
          <p:nvPr/>
        </p:nvSpPr>
        <p:spPr>
          <a:xfrm>
            <a:off x="7463643" y="3455392"/>
            <a:ext cx="1846514" cy="4240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directions, bus arrivals and the route state machine</a:t>
            </a:r>
            <a:endParaRPr lang="en-US" sz="1050" dirty="0"/>
          </a:p>
        </p:txBody>
      </p:sp>
      <p:sp>
        <p:nvSpPr>
          <p:cNvPr id="25" name="txt-16"/>
          <p:cNvSpPr/>
          <p:nvPr/>
        </p:nvSpPr>
        <p:spPr>
          <a:xfrm>
            <a:off x="9678448" y="2693392"/>
            <a:ext cx="1846514" cy="46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L4</a:t>
            </a:r>
            <a:endParaRPr lang="en-US" sz="3200" dirty="0"/>
          </a:p>
        </p:txBody>
      </p:sp>
      <p:sp>
        <p:nvSpPr>
          <p:cNvPr id="26" name="txt-17"/>
          <p:cNvSpPr/>
          <p:nvPr/>
        </p:nvSpPr>
        <p:spPr>
          <a:xfrm>
            <a:off x="9678448" y="3214092"/>
            <a:ext cx="1846514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MEMORY</a:t>
            </a:r>
            <a:endParaRPr lang="en-US" sz="950" dirty="0"/>
          </a:p>
        </p:txBody>
      </p:sp>
      <p:sp>
        <p:nvSpPr>
          <p:cNvPr id="27" name="txt-18"/>
          <p:cNvSpPr/>
          <p:nvPr/>
        </p:nvSpPr>
        <p:spPr>
          <a:xfrm>
            <a:off x="9678448" y="3455392"/>
            <a:ext cx="1846514" cy="4240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remembers your frequently visited locations</a:t>
            </a:r>
            <a:endParaRPr lang="en-US" sz="1050" dirty="0"/>
          </a:p>
        </p:txBody>
      </p:sp>
      <p:sp>
        <p:nvSpPr>
          <p:cNvPr id="28" name="txt-19"/>
          <p:cNvSpPr/>
          <p:nvPr/>
        </p:nvSpPr>
        <p:spPr>
          <a:xfrm>
            <a:off x="634984" y="5721350"/>
            <a:ext cx="11074123" cy="552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ONE RULE: SAFETY NEVER LEAVES THE DEVICE.</a:t>
            </a:r>
            <a:endParaRPr lang="en-US" sz="1700" dirty="0"/>
          </a:p>
        </p:txBody>
      </p:sp>
      <p:sp>
        <p:nvSpPr>
          <p:cNvPr id="29" name="svg-0"/>
          <p:cNvSpPr/>
          <p:nvPr/>
        </p:nvSpPr>
        <p:spPr>
          <a:xfrm>
            <a:off x="634984" y="2471142"/>
            <a:ext cx="2062409" cy="0"/>
          </a:xfrm>
          <a:prstGeom prst="line">
            <a:avLst/>
          </a:prstGeom>
          <a:ln w="76200">
            <a:solidFill>
              <a:srgbClr val="D8E516"/>
            </a:solidFill>
            <a:prstDash val="solid"/>
          </a:ln>
        </p:spPr>
      </p:sp>
      <p:sp>
        <p:nvSpPr>
          <p:cNvPr id="30" name="svg-1"/>
          <p:cNvSpPr/>
          <p:nvPr/>
        </p:nvSpPr>
        <p:spPr>
          <a:xfrm>
            <a:off x="2697393" y="2471142"/>
            <a:ext cx="0" cy="2996208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1" name="svg-2"/>
          <p:cNvSpPr/>
          <p:nvPr/>
        </p:nvSpPr>
        <p:spPr>
          <a:xfrm>
            <a:off x="634984" y="5467350"/>
            <a:ext cx="2062409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2" name="svg-3"/>
          <p:cNvSpPr/>
          <p:nvPr/>
        </p:nvSpPr>
        <p:spPr>
          <a:xfrm>
            <a:off x="634984" y="2471142"/>
            <a:ext cx="0" cy="2996208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556669"/>
            <a:ext cx="5079873" cy="2787352"/>
          </a:xfrm>
          <a:prstGeom prst="rect">
            <a:avLst/>
          </a:prstGeom>
          <a:solidFill>
            <a:srgbClr val="141509"/>
          </a:solidFill>
          <a:ln w="12700">
            <a:solidFill>
              <a:srgbClr val="D8E516"/>
            </a:solidFill>
            <a:prstDash val="solid"/>
          </a:ln>
        </p:spPr>
      </p:sp>
      <p:sp>
        <p:nvSpPr>
          <p:cNvPr id="3" name="decor-2"/>
          <p:cNvSpPr/>
          <p:nvPr/>
        </p:nvSpPr>
        <p:spPr>
          <a:xfrm>
            <a:off x="6089498" y="2556669"/>
            <a:ext cx="45720" cy="1047552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4" name="decor-3"/>
          <p:cNvSpPr/>
          <p:nvPr/>
        </p:nvSpPr>
        <p:spPr>
          <a:xfrm>
            <a:off x="6089498" y="4296370"/>
            <a:ext cx="45720" cy="1047651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5" name="decor-4"/>
          <p:cNvSpPr/>
          <p:nvPr/>
        </p:nvSpPr>
        <p:spPr>
          <a:xfrm>
            <a:off x="6476838" y="2556669"/>
            <a:ext cx="5079873" cy="27873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6" name="decor-5"/>
          <p:cNvSpPr/>
          <p:nvPr/>
        </p:nvSpPr>
        <p:spPr>
          <a:xfrm>
            <a:off x="634984" y="5598021"/>
            <a:ext cx="10921727" cy="74414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F2F2C"/>
            </a:solidFill>
            <a:prstDash val="solid"/>
          </a:ln>
        </p:spPr>
      </p:sp>
      <p:grpSp>
        <p:nvGrpSpPr>
          <p:cNvPr id="1000" name="pg17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7" name="pg17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8" name="pg17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9" name="pg17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TECHNICAL ARCHITECTURE 1 OF 3</a:t>
            </a:r>
            <a:endParaRPr lang="en-US" sz="950" dirty="0"/>
          </a:p>
        </p:txBody>
      </p:sp>
      <p:sp>
        <p:nvSpPr>
          <p:cNvPr id="10" name="txt-2"/>
          <p:cNvSpPr/>
          <p:nvPr/>
        </p:nvSpPr>
        <p:spPr>
          <a:xfrm>
            <a:off x="634984" y="1231900"/>
            <a:ext cx="10028939" cy="112537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FAST REFLEXES LOCAL, </a:t>
            </a:r>
            <a:pPr algn="l" indent="0" marL="0">
              <a:buNone/>
            </a:pPr>
            <a:r>
              <a:rPr lang="en-US" sz="42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BIG BRAINS ON CALL</a:t>
            </a:r>
            <a:endParaRPr lang="en-US" sz="4200" dirty="0"/>
          </a:p>
        </p:txBody>
      </p:sp>
      <p:sp>
        <p:nvSpPr>
          <p:cNvPr id="11" name="txt-3"/>
          <p:cNvSpPr/>
          <p:nvPr/>
        </p:nvSpPr>
        <p:spPr>
          <a:xfrm>
            <a:off x="908027" y="2804319"/>
            <a:ext cx="1482986" cy="387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ON-DEVICE</a:t>
            </a:r>
            <a:endParaRPr lang="en-US" sz="2300" dirty="0"/>
          </a:p>
        </p:txBody>
      </p:sp>
      <p:sp>
        <p:nvSpPr>
          <p:cNvPr id="12" name="txt-4"/>
          <p:cNvSpPr/>
          <p:nvPr/>
        </p:nvSpPr>
        <p:spPr>
          <a:xfrm>
            <a:off x="4293386" y="2963069"/>
            <a:ext cx="1300825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REACTS &lt; 100 MS</a:t>
            </a:r>
            <a:endParaRPr lang="en-US" sz="900" dirty="0"/>
          </a:p>
        </p:txBody>
      </p:sp>
      <p:sp>
        <p:nvSpPr>
          <p:cNvPr id="13" name="txt-5"/>
          <p:cNvSpPr/>
          <p:nvPr/>
        </p:nvSpPr>
        <p:spPr>
          <a:xfrm>
            <a:off x="908027" y="3305969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YOLO vision (runs offline on the NPU)</a:t>
            </a:r>
            <a:endParaRPr lang="en-US" sz="1200" dirty="0"/>
          </a:p>
        </p:txBody>
      </p:sp>
      <p:sp>
        <p:nvSpPr>
          <p:cNvPr id="14" name="txt-6"/>
          <p:cNvSpPr/>
          <p:nvPr/>
        </p:nvSpPr>
        <p:spPr>
          <a:xfrm>
            <a:off x="908027" y="3664049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depth sensing + ToF laser</a:t>
            </a:r>
            <a:endParaRPr lang="en-US" sz="1200" dirty="0"/>
          </a:p>
        </p:txBody>
      </p:sp>
      <p:sp>
        <p:nvSpPr>
          <p:cNvPr id="15" name="txt-7"/>
          <p:cNvSpPr/>
          <p:nvPr/>
        </p:nvSpPr>
        <p:spPr>
          <a:xfrm>
            <a:off x="908027" y="4022130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safety fusion &amp; alert engine</a:t>
            </a:r>
            <a:endParaRPr lang="en-US" sz="1200" dirty="0"/>
          </a:p>
        </p:txBody>
      </p:sp>
      <p:sp>
        <p:nvSpPr>
          <p:cNvPr id="16" name="txt-8"/>
          <p:cNvSpPr/>
          <p:nvPr/>
        </p:nvSpPr>
        <p:spPr>
          <a:xfrm>
            <a:off x="908027" y="4380210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navigation state machine</a:t>
            </a:r>
            <a:endParaRPr lang="en-US" sz="1200" dirty="0"/>
          </a:p>
        </p:txBody>
      </p:sp>
      <p:sp>
        <p:nvSpPr>
          <p:cNvPr id="17" name="txt-9"/>
          <p:cNvSpPr/>
          <p:nvPr/>
        </p:nvSpPr>
        <p:spPr>
          <a:xfrm>
            <a:off x="908027" y="4738291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offline route following</a:t>
            </a:r>
            <a:endParaRPr lang="en-US" sz="1200" dirty="0"/>
          </a:p>
        </p:txBody>
      </p:sp>
      <p:sp>
        <p:nvSpPr>
          <p:cNvPr id="18" name="txt-10"/>
          <p:cNvSpPr/>
          <p:nvPr/>
        </p:nvSpPr>
        <p:spPr>
          <a:xfrm>
            <a:off x="6749881" y="2804319"/>
            <a:ext cx="1629032" cy="387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ON-DEMAND</a:t>
            </a:r>
            <a:endParaRPr lang="en-US" sz="2300" dirty="0"/>
          </a:p>
        </p:txBody>
      </p:sp>
      <p:sp>
        <p:nvSpPr>
          <p:cNvPr id="19" name="txt-11"/>
          <p:cNvSpPr/>
          <p:nvPr/>
        </p:nvSpPr>
        <p:spPr>
          <a:xfrm>
            <a:off x="10900792" y="2963069"/>
            <a:ext cx="53527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CLOUD</a:t>
            </a:r>
            <a:endParaRPr lang="en-US" sz="900" dirty="0"/>
          </a:p>
        </p:txBody>
      </p:sp>
      <p:sp>
        <p:nvSpPr>
          <p:cNvPr id="20" name="txt-12"/>
          <p:cNvSpPr/>
          <p:nvPr/>
        </p:nvSpPr>
        <p:spPr>
          <a:xfrm>
            <a:off x="6749881" y="3305969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Gemini Live — the conversational brain</a:t>
            </a:r>
            <a:endParaRPr lang="en-US" sz="1200" dirty="0"/>
          </a:p>
        </p:txBody>
      </p:sp>
      <p:sp>
        <p:nvSpPr>
          <p:cNvPr id="21" name="txt-13"/>
          <p:cNvSpPr/>
          <p:nvPr/>
        </p:nvSpPr>
        <p:spPr>
          <a:xfrm>
            <a:off x="6749881" y="3664049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Google Maps routing</a:t>
            </a:r>
            <a:endParaRPr lang="en-US" sz="1200" dirty="0"/>
          </a:p>
        </p:txBody>
      </p:sp>
      <p:sp>
        <p:nvSpPr>
          <p:cNvPr id="22" name="txt-14"/>
          <p:cNvSpPr/>
          <p:nvPr/>
        </p:nvSpPr>
        <p:spPr>
          <a:xfrm>
            <a:off x="6749881" y="4022130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LTA bus arrival times</a:t>
            </a:r>
            <a:endParaRPr lang="en-US" sz="1200" dirty="0"/>
          </a:p>
        </p:txBody>
      </p:sp>
      <p:sp>
        <p:nvSpPr>
          <p:cNvPr id="23" name="txt-15"/>
          <p:cNvSpPr/>
          <p:nvPr/>
        </p:nvSpPr>
        <p:spPr>
          <a:xfrm>
            <a:off x="6749881" y="4380210"/>
            <a:ext cx="4686183" cy="40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memory sync to the cloud</a:t>
            </a:r>
            <a:endParaRPr lang="en-US" sz="1200" dirty="0"/>
          </a:p>
        </p:txBody>
      </p:sp>
      <p:sp>
        <p:nvSpPr>
          <p:cNvPr id="24" name="txt-16"/>
          <p:cNvSpPr/>
          <p:nvPr/>
        </p:nvSpPr>
        <p:spPr>
          <a:xfrm>
            <a:off x="634984" y="5598021"/>
            <a:ext cx="11074123" cy="7949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CONNECTIVITY MONITOR — </a:t>
            </a:r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walking into an MRT underpass with no signal? safety alerts and route-following keep running on-device. the journey does not stop when the network does.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547838"/>
            <a:ext cx="1904952" cy="13081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3" name="decor-2"/>
          <p:cNvSpPr/>
          <p:nvPr/>
        </p:nvSpPr>
        <p:spPr>
          <a:xfrm>
            <a:off x="2819330" y="2547838"/>
            <a:ext cx="1904952" cy="13081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4" name="decor-3"/>
          <p:cNvSpPr/>
          <p:nvPr/>
        </p:nvSpPr>
        <p:spPr>
          <a:xfrm>
            <a:off x="5003675" y="2547838"/>
            <a:ext cx="1904952" cy="13081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516"/>
            </a:solidFill>
            <a:prstDash val="solid"/>
          </a:ln>
        </p:spPr>
      </p:sp>
      <p:sp>
        <p:nvSpPr>
          <p:cNvPr id="5" name="decor-4"/>
          <p:cNvSpPr/>
          <p:nvPr/>
        </p:nvSpPr>
        <p:spPr>
          <a:xfrm>
            <a:off x="7188020" y="2547838"/>
            <a:ext cx="1904952" cy="13081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6" name="decor-5"/>
          <p:cNvSpPr/>
          <p:nvPr/>
        </p:nvSpPr>
        <p:spPr>
          <a:xfrm>
            <a:off x="9372366" y="2547838"/>
            <a:ext cx="2184345" cy="13081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grpSp>
        <p:nvGrpSpPr>
          <p:cNvPr id="1000" name="pg18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7" name="pg18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8" name="pg18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9" name="pg18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TECHNICAL ARCHITECTURE 2 OF 3</a:t>
            </a:r>
            <a:endParaRPr lang="en-US" sz="950" dirty="0"/>
          </a:p>
        </p:txBody>
      </p:sp>
      <p:sp>
        <p:nvSpPr>
          <p:cNvPr id="10" name="pg18-Rule-3/decor-6"/>
          <p:cNvSpPr/>
          <p:nvPr/>
        </p:nvSpPr>
        <p:spPr>
          <a:xfrm>
            <a:off x="634984" y="5994400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1" name="txt-2"/>
          <p:cNvSpPr/>
          <p:nvPr/>
        </p:nvSpPr>
        <p:spPr>
          <a:xfrm>
            <a:off x="634984" y="1231900"/>
            <a:ext cx="11117302" cy="631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ONE VOICE IN. ONE VOICE OUT.</a:t>
            </a:r>
            <a:endParaRPr lang="en-US" sz="4400" dirty="0"/>
          </a:p>
        </p:txBody>
      </p:sp>
      <p:sp>
        <p:nvSpPr>
          <p:cNvPr id="12" name="txt-3"/>
          <p:cNvSpPr/>
          <p:nvPr/>
        </p:nvSpPr>
        <p:spPr>
          <a:xfrm>
            <a:off x="634984" y="1881088"/>
            <a:ext cx="7772206" cy="273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no buttons to find, no screen to unlock — talk like you would to a friend.</a:t>
            </a:r>
            <a:endParaRPr lang="en-US" sz="1300" dirty="0"/>
          </a:p>
        </p:txBody>
      </p:sp>
      <p:sp>
        <p:nvSpPr>
          <p:cNvPr id="13" name="txt-4"/>
          <p:cNvSpPr/>
          <p:nvPr/>
        </p:nvSpPr>
        <p:spPr>
          <a:xfrm>
            <a:off x="806430" y="2744688"/>
            <a:ext cx="1714457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xt-5"/>
          <p:cNvSpPr/>
          <p:nvPr/>
        </p:nvSpPr>
        <p:spPr>
          <a:xfrm>
            <a:off x="806430" y="2960588"/>
            <a:ext cx="1714457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EARS</a:t>
            </a:r>
            <a:endParaRPr lang="en-US" sz="2000" dirty="0"/>
          </a:p>
        </p:txBody>
      </p:sp>
      <p:sp>
        <p:nvSpPr>
          <p:cNvPr id="15" name="txt-6"/>
          <p:cNvSpPr/>
          <p:nvPr/>
        </p:nvSpPr>
        <p:spPr>
          <a:xfrm>
            <a:off x="806430" y="3303488"/>
            <a:ext cx="1714457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bluetooth mic + voice activity detection</a:t>
            </a:r>
            <a:endParaRPr lang="en-US" sz="1000" dirty="0"/>
          </a:p>
        </p:txBody>
      </p:sp>
      <p:sp>
        <p:nvSpPr>
          <p:cNvPr id="16" name="txt-7"/>
          <p:cNvSpPr/>
          <p:nvPr/>
        </p:nvSpPr>
        <p:spPr>
          <a:xfrm>
            <a:off x="2539937" y="2547838"/>
            <a:ext cx="431789" cy="1358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xt-8"/>
          <p:cNvSpPr/>
          <p:nvPr/>
        </p:nvSpPr>
        <p:spPr>
          <a:xfrm>
            <a:off x="2990775" y="2744688"/>
            <a:ext cx="1714457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xt-9"/>
          <p:cNvSpPr/>
          <p:nvPr/>
        </p:nvSpPr>
        <p:spPr>
          <a:xfrm>
            <a:off x="2990775" y="2960588"/>
            <a:ext cx="1714457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9" name="txt-10"/>
          <p:cNvSpPr/>
          <p:nvPr/>
        </p:nvSpPr>
        <p:spPr>
          <a:xfrm>
            <a:off x="2990775" y="3303488"/>
            <a:ext cx="1714457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speech-to-text + the Gemini Live brain</a:t>
            </a:r>
            <a:endParaRPr lang="en-US" sz="1000" dirty="0"/>
          </a:p>
        </p:txBody>
      </p:sp>
      <p:sp>
        <p:nvSpPr>
          <p:cNvPr id="20" name="txt-11"/>
          <p:cNvSpPr/>
          <p:nvPr/>
        </p:nvSpPr>
        <p:spPr>
          <a:xfrm>
            <a:off x="4724282" y="2547838"/>
            <a:ext cx="431789" cy="1358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xt-12"/>
          <p:cNvSpPr/>
          <p:nvPr/>
        </p:nvSpPr>
        <p:spPr>
          <a:xfrm>
            <a:off x="5175121" y="2744688"/>
            <a:ext cx="1714457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xt-13"/>
          <p:cNvSpPr/>
          <p:nvPr/>
        </p:nvSpPr>
        <p:spPr>
          <a:xfrm>
            <a:off x="5175121" y="2960588"/>
            <a:ext cx="1714457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DECIDE</a:t>
            </a:r>
            <a:endParaRPr lang="en-US" sz="2000" dirty="0"/>
          </a:p>
        </p:txBody>
      </p:sp>
      <p:sp>
        <p:nvSpPr>
          <p:cNvPr id="23" name="txt-14"/>
          <p:cNvSpPr/>
          <p:nvPr/>
        </p:nvSpPr>
        <p:spPr>
          <a:xfrm>
            <a:off x="5175121" y="3303488"/>
            <a:ext cx="1714457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intent router — 97.7% accuracy on 14 intents</a:t>
            </a:r>
            <a:endParaRPr lang="en-US" sz="1000" dirty="0"/>
          </a:p>
        </p:txBody>
      </p:sp>
      <p:sp>
        <p:nvSpPr>
          <p:cNvPr id="24" name="txt-15"/>
          <p:cNvSpPr/>
          <p:nvPr/>
        </p:nvSpPr>
        <p:spPr>
          <a:xfrm>
            <a:off x="6908627" y="2547838"/>
            <a:ext cx="431789" cy="1358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xt-16"/>
          <p:cNvSpPr/>
          <p:nvPr/>
        </p:nvSpPr>
        <p:spPr>
          <a:xfrm>
            <a:off x="7359466" y="2744688"/>
            <a:ext cx="1714457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xt-17"/>
          <p:cNvSpPr/>
          <p:nvPr/>
        </p:nvSpPr>
        <p:spPr>
          <a:xfrm>
            <a:off x="7359466" y="2960588"/>
            <a:ext cx="1714457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ACT</a:t>
            </a:r>
            <a:endParaRPr lang="en-US" sz="2000" dirty="0"/>
          </a:p>
        </p:txBody>
      </p:sp>
      <p:sp>
        <p:nvSpPr>
          <p:cNvPr id="27" name="txt-18"/>
          <p:cNvSpPr/>
          <p:nvPr/>
        </p:nvSpPr>
        <p:spPr>
          <a:xfrm>
            <a:off x="7359466" y="3303488"/>
            <a:ext cx="1714457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tool calls: navigate, bus times, find places</a:t>
            </a:r>
            <a:endParaRPr lang="en-US" sz="1000" dirty="0"/>
          </a:p>
        </p:txBody>
      </p:sp>
      <p:sp>
        <p:nvSpPr>
          <p:cNvPr id="28" name="txt-19"/>
          <p:cNvSpPr/>
          <p:nvPr/>
        </p:nvSpPr>
        <p:spPr>
          <a:xfrm>
            <a:off x="9092973" y="2547838"/>
            <a:ext cx="431789" cy="1358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xt-20"/>
          <p:cNvSpPr/>
          <p:nvPr/>
        </p:nvSpPr>
        <p:spPr>
          <a:xfrm>
            <a:off x="9543811" y="2744688"/>
            <a:ext cx="1993850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05</a:t>
            </a:r>
            <a:endParaRPr lang="en-US" sz="850" dirty="0"/>
          </a:p>
        </p:txBody>
      </p:sp>
      <p:sp>
        <p:nvSpPr>
          <p:cNvPr id="30" name="txt-21"/>
          <p:cNvSpPr/>
          <p:nvPr/>
        </p:nvSpPr>
        <p:spPr>
          <a:xfrm>
            <a:off x="9543811" y="2960588"/>
            <a:ext cx="199385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SPEAK</a:t>
            </a:r>
            <a:endParaRPr lang="en-US" sz="2000" dirty="0"/>
          </a:p>
        </p:txBody>
      </p:sp>
      <p:sp>
        <p:nvSpPr>
          <p:cNvPr id="31" name="txt-22"/>
          <p:cNvSpPr/>
          <p:nvPr/>
        </p:nvSpPr>
        <p:spPr>
          <a:xfrm>
            <a:off x="9543811" y="3303488"/>
            <a:ext cx="199385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 natural voice answers in your ear</a:t>
            </a:r>
            <a:endParaRPr lang="en-US" sz="1000" dirty="0"/>
          </a:p>
        </p:txBody>
      </p:sp>
      <p:sp>
        <p:nvSpPr>
          <p:cNvPr id="32" name="txt-23"/>
          <p:cNvSpPr/>
          <p:nvPr/>
        </p:nvSpPr>
        <p:spPr>
          <a:xfrm>
            <a:off x="634984" y="4198838"/>
            <a:ext cx="11074123" cy="25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⟲</a:t>
            </a:r>
            <a:pPr algn="l" indent="0" marL="0">
              <a:buNone/>
            </a:pPr>
            <a:r>
              <a:rPr lang="en-US" sz="9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CONTINUOUS CONVERSATION — INTERRUPT ANYTIME, LIKE A HUMAN COMPANION</a:t>
            </a:r>
            <a:endParaRPr lang="en-US" sz="950" dirty="0"/>
          </a:p>
        </p:txBody>
      </p:sp>
      <p:sp>
        <p:nvSpPr>
          <p:cNvPr id="33" name="txt-24"/>
          <p:cNvSpPr/>
          <p:nvPr/>
        </p:nvSpPr>
        <p:spPr>
          <a:xfrm>
            <a:off x="634984" y="6102350"/>
            <a:ext cx="11074123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FALLBACK CHAIN: CARTESIA VOICE → LOCAL ENGINE — THE VOICE NEVER DIES MID-JOURNEY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770088"/>
            <a:ext cx="1618515" cy="51236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F2F2C"/>
            </a:solidFill>
            <a:prstDash val="solid"/>
          </a:ln>
        </p:spPr>
      </p:sp>
      <p:sp>
        <p:nvSpPr>
          <p:cNvPr id="3" name="decor-2"/>
          <p:cNvSpPr/>
          <p:nvPr/>
        </p:nvSpPr>
        <p:spPr>
          <a:xfrm>
            <a:off x="2470088" y="2770088"/>
            <a:ext cx="1618515" cy="51236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F2F2C"/>
            </a:solidFill>
            <a:prstDash val="solid"/>
          </a:ln>
        </p:spPr>
      </p:sp>
      <p:sp>
        <p:nvSpPr>
          <p:cNvPr id="4" name="decor-3"/>
          <p:cNvSpPr/>
          <p:nvPr/>
        </p:nvSpPr>
        <p:spPr>
          <a:xfrm>
            <a:off x="4305192" y="2770088"/>
            <a:ext cx="1618515" cy="512366"/>
          </a:xfrm>
          <a:prstGeom prst="rect">
            <a:avLst/>
          </a:prstGeom>
          <a:solidFill>
            <a:srgbClr val="181909"/>
          </a:solidFill>
          <a:ln w="25400">
            <a:solidFill>
              <a:srgbClr val="D8E516"/>
            </a:solidFill>
            <a:prstDash val="solid"/>
          </a:ln>
        </p:spPr>
      </p:sp>
      <p:sp>
        <p:nvSpPr>
          <p:cNvPr id="5" name="decor-4"/>
          <p:cNvSpPr/>
          <p:nvPr/>
        </p:nvSpPr>
        <p:spPr>
          <a:xfrm>
            <a:off x="6140296" y="2770088"/>
            <a:ext cx="1618515" cy="512366"/>
          </a:xfrm>
          <a:prstGeom prst="rect">
            <a:avLst/>
          </a:prstGeom>
          <a:solidFill>
            <a:srgbClr val="181909"/>
          </a:solidFill>
          <a:ln w="25400">
            <a:solidFill>
              <a:srgbClr val="D8E516"/>
            </a:solidFill>
            <a:prstDash val="solid"/>
          </a:ln>
        </p:spPr>
      </p:sp>
      <p:sp>
        <p:nvSpPr>
          <p:cNvPr id="6" name="decor-5"/>
          <p:cNvSpPr/>
          <p:nvPr/>
        </p:nvSpPr>
        <p:spPr>
          <a:xfrm>
            <a:off x="7975401" y="2770088"/>
            <a:ext cx="1618515" cy="51236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F2F2C"/>
            </a:solidFill>
            <a:prstDash val="solid"/>
          </a:ln>
        </p:spPr>
      </p:sp>
      <p:sp>
        <p:nvSpPr>
          <p:cNvPr id="7" name="decor-6"/>
          <p:cNvSpPr/>
          <p:nvPr/>
        </p:nvSpPr>
        <p:spPr>
          <a:xfrm>
            <a:off x="9810505" y="2770088"/>
            <a:ext cx="1746206" cy="51236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F2F2C"/>
            </a:solidFill>
            <a:prstDash val="solid"/>
          </a:ln>
        </p:spPr>
      </p:sp>
      <p:sp>
        <p:nvSpPr>
          <p:cNvPr id="8" name="decor-7"/>
          <p:cNvSpPr/>
          <p:nvPr/>
        </p:nvSpPr>
        <p:spPr>
          <a:xfrm>
            <a:off x="634984" y="4044454"/>
            <a:ext cx="2113207" cy="787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decor-8"/>
          <p:cNvSpPr/>
          <p:nvPr/>
        </p:nvSpPr>
        <p:spPr>
          <a:xfrm>
            <a:off x="2837089" y="4044454"/>
            <a:ext cx="2113307" cy="787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decor-9"/>
          <p:cNvSpPr/>
          <p:nvPr/>
        </p:nvSpPr>
        <p:spPr>
          <a:xfrm>
            <a:off x="5039294" y="4044454"/>
            <a:ext cx="2113207" cy="787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decor-10"/>
          <p:cNvSpPr/>
          <p:nvPr/>
        </p:nvSpPr>
        <p:spPr>
          <a:xfrm>
            <a:off x="7241399" y="4044454"/>
            <a:ext cx="2113207" cy="787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decor-11"/>
          <p:cNvSpPr/>
          <p:nvPr/>
        </p:nvSpPr>
        <p:spPr>
          <a:xfrm>
            <a:off x="9443504" y="4044454"/>
            <a:ext cx="2113207" cy="787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grpSp>
        <p:nvGrpSpPr>
          <p:cNvPr id="1000" name="pg19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13" name="pg19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14" name="pg19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15" name="pg19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TECHNICAL ARCHITECTURE 3 OF 3</a:t>
            </a:r>
            <a:endParaRPr lang="en-US" sz="950" dirty="0"/>
          </a:p>
        </p:txBody>
      </p:sp>
      <p:sp>
        <p:nvSpPr>
          <p:cNvPr id="16" name="pg19-Tag-3/txt-10"/>
          <p:cNvSpPr/>
          <p:nvPr/>
        </p:nvSpPr>
        <p:spPr>
          <a:xfrm>
            <a:off x="634984" y="3765054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FIVE MODES THAT SWITCH AUTOMATICALLY</a:t>
            </a:r>
            <a:endParaRPr lang="en-US" sz="950" dirty="0"/>
          </a:p>
        </p:txBody>
      </p:sp>
      <p:sp>
        <p:nvSpPr>
          <p:cNvPr id="17" name="txt-2"/>
          <p:cNvSpPr/>
          <p:nvPr/>
        </p:nvSpPr>
        <p:spPr>
          <a:xfrm>
            <a:off x="634984" y="1231900"/>
            <a:ext cx="11117302" cy="631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IT KNOWS WHERE YOU ARE IN THE JOURNEY</a:t>
            </a:r>
            <a:endParaRPr lang="en-US" sz="4400" dirty="0"/>
          </a:p>
        </p:txBody>
      </p:sp>
      <p:sp>
        <p:nvSpPr>
          <p:cNvPr id="18" name="txt-3"/>
          <p:cNvSpPr/>
          <p:nvPr/>
        </p:nvSpPr>
        <p:spPr>
          <a:xfrm>
            <a:off x="634984" y="1906488"/>
            <a:ext cx="8089698" cy="495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 navigation engine moves through six states — so the right help arrives at the right moment, without being asked.</a:t>
            </a:r>
            <a:endParaRPr lang="en-US" sz="1300" dirty="0"/>
          </a:p>
        </p:txBody>
      </p:sp>
      <p:sp>
        <p:nvSpPr>
          <p:cNvPr id="19" name="txt-4"/>
          <p:cNvSpPr/>
          <p:nvPr/>
        </p:nvSpPr>
        <p:spPr>
          <a:xfrm>
            <a:off x="634984" y="2770088"/>
            <a:ext cx="1770911" cy="56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INACTIVE</a:t>
            </a:r>
            <a:endParaRPr lang="en-US" sz="950" dirty="0"/>
          </a:p>
        </p:txBody>
      </p:sp>
      <p:sp>
        <p:nvSpPr>
          <p:cNvPr id="20" name="txt-5"/>
          <p:cNvSpPr/>
          <p:nvPr/>
        </p:nvSpPr>
        <p:spPr>
          <a:xfrm>
            <a:off x="2470088" y="2770088"/>
            <a:ext cx="1770911" cy="56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LOADING ROUTE</a:t>
            </a:r>
            <a:endParaRPr lang="en-US" sz="950" dirty="0"/>
          </a:p>
        </p:txBody>
      </p:sp>
      <p:sp>
        <p:nvSpPr>
          <p:cNvPr id="21" name="txt-6"/>
          <p:cNvSpPr/>
          <p:nvPr/>
        </p:nvSpPr>
        <p:spPr>
          <a:xfrm>
            <a:off x="4305192" y="2770088"/>
            <a:ext cx="1770911" cy="56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NAVIGATING</a:t>
            </a:r>
            <a:endParaRPr lang="en-US" sz="950" dirty="0"/>
          </a:p>
        </p:txBody>
      </p:sp>
      <p:sp>
        <p:nvSpPr>
          <p:cNvPr id="22" name="txt-7"/>
          <p:cNvSpPr/>
          <p:nvPr/>
        </p:nvSpPr>
        <p:spPr>
          <a:xfrm>
            <a:off x="6140296" y="2770088"/>
            <a:ext cx="1770911" cy="56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WAITING FOR BUS</a:t>
            </a:r>
            <a:endParaRPr lang="en-US" sz="950" dirty="0"/>
          </a:p>
        </p:txBody>
      </p:sp>
      <p:sp>
        <p:nvSpPr>
          <p:cNvPr id="23" name="txt-8"/>
          <p:cNvSpPr/>
          <p:nvPr/>
        </p:nvSpPr>
        <p:spPr>
          <a:xfrm>
            <a:off x="7975401" y="2770088"/>
            <a:ext cx="1770911" cy="56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ON VEHICLE</a:t>
            </a:r>
            <a:endParaRPr lang="en-US" sz="950" dirty="0"/>
          </a:p>
        </p:txBody>
      </p:sp>
      <p:sp>
        <p:nvSpPr>
          <p:cNvPr id="24" name="txt-9"/>
          <p:cNvSpPr/>
          <p:nvPr/>
        </p:nvSpPr>
        <p:spPr>
          <a:xfrm>
            <a:off x="9810505" y="2770088"/>
            <a:ext cx="1898603" cy="56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ARRIVED</a:t>
            </a:r>
            <a:endParaRPr lang="en-US" sz="950" dirty="0"/>
          </a:p>
        </p:txBody>
      </p:sp>
      <p:sp>
        <p:nvSpPr>
          <p:cNvPr id="25" name="txt-11"/>
          <p:cNvSpPr/>
          <p:nvPr/>
        </p:nvSpPr>
        <p:spPr>
          <a:xfrm>
            <a:off x="793730" y="4215904"/>
            <a:ext cx="1948111" cy="298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OUTDOOR</a:t>
            </a:r>
            <a:endParaRPr lang="en-US" sz="1700" dirty="0"/>
          </a:p>
        </p:txBody>
      </p:sp>
      <p:sp>
        <p:nvSpPr>
          <p:cNvPr id="26" name="txt-12"/>
          <p:cNvSpPr/>
          <p:nvPr/>
        </p:nvSpPr>
        <p:spPr>
          <a:xfrm>
            <a:off x="793730" y="4514354"/>
            <a:ext cx="1948111" cy="222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full hazard watch</a:t>
            </a:r>
            <a:endParaRPr lang="en-US" sz="1000" dirty="0"/>
          </a:p>
        </p:txBody>
      </p:sp>
      <p:sp>
        <p:nvSpPr>
          <p:cNvPr id="27" name="txt-13"/>
          <p:cNvSpPr/>
          <p:nvPr/>
        </p:nvSpPr>
        <p:spPr>
          <a:xfrm>
            <a:off x="2995835" y="4215904"/>
            <a:ext cx="1948211" cy="298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INDOOR</a:t>
            </a:r>
            <a:endParaRPr lang="en-US" sz="1700" dirty="0"/>
          </a:p>
        </p:txBody>
      </p:sp>
      <p:sp>
        <p:nvSpPr>
          <p:cNvPr id="28" name="txt-14"/>
          <p:cNvSpPr/>
          <p:nvPr/>
        </p:nvSpPr>
        <p:spPr>
          <a:xfrm>
            <a:off x="2995835" y="4514354"/>
            <a:ext cx="1948211" cy="222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cane-aware mode</a:t>
            </a:r>
            <a:endParaRPr lang="en-US" sz="1000" dirty="0"/>
          </a:p>
        </p:txBody>
      </p:sp>
      <p:sp>
        <p:nvSpPr>
          <p:cNvPr id="29" name="txt-15"/>
          <p:cNvSpPr/>
          <p:nvPr/>
        </p:nvSpPr>
        <p:spPr>
          <a:xfrm>
            <a:off x="5198040" y="4215904"/>
            <a:ext cx="1948111" cy="298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BUS STOP</a:t>
            </a:r>
            <a:endParaRPr lang="en-US" sz="1700" dirty="0"/>
          </a:p>
        </p:txBody>
      </p:sp>
      <p:sp>
        <p:nvSpPr>
          <p:cNvPr id="30" name="txt-16"/>
          <p:cNvSpPr/>
          <p:nvPr/>
        </p:nvSpPr>
        <p:spPr>
          <a:xfrm>
            <a:off x="5198040" y="4514354"/>
            <a:ext cx="1948111" cy="222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bus-number vision</a:t>
            </a:r>
            <a:endParaRPr lang="en-US" sz="1000" dirty="0"/>
          </a:p>
        </p:txBody>
      </p:sp>
      <p:sp>
        <p:nvSpPr>
          <p:cNvPr id="31" name="txt-17"/>
          <p:cNvSpPr/>
          <p:nvPr/>
        </p:nvSpPr>
        <p:spPr>
          <a:xfrm>
            <a:off x="7400145" y="4215904"/>
            <a:ext cx="1948111" cy="298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TRANSIT</a:t>
            </a:r>
            <a:endParaRPr lang="en-US" sz="1700" dirty="0"/>
          </a:p>
        </p:txBody>
      </p:sp>
      <p:sp>
        <p:nvSpPr>
          <p:cNvPr id="32" name="txt-18"/>
          <p:cNvSpPr/>
          <p:nvPr/>
        </p:nvSpPr>
        <p:spPr>
          <a:xfrm>
            <a:off x="7400145" y="4514354"/>
            <a:ext cx="1948111" cy="222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stops &amp; interchanges</a:t>
            </a:r>
            <a:endParaRPr lang="en-US" sz="1000" dirty="0"/>
          </a:p>
        </p:txBody>
      </p:sp>
      <p:sp>
        <p:nvSpPr>
          <p:cNvPr id="33" name="txt-19"/>
          <p:cNvSpPr/>
          <p:nvPr/>
        </p:nvSpPr>
        <p:spPr>
          <a:xfrm>
            <a:off x="9602250" y="4215904"/>
            <a:ext cx="1948111" cy="298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IDLE</a:t>
            </a:r>
            <a:endParaRPr lang="en-US" sz="1700" dirty="0"/>
          </a:p>
        </p:txBody>
      </p:sp>
      <p:sp>
        <p:nvSpPr>
          <p:cNvPr id="34" name="txt-20"/>
          <p:cNvSpPr/>
          <p:nvPr/>
        </p:nvSpPr>
        <p:spPr>
          <a:xfrm>
            <a:off x="9602250" y="4514354"/>
            <a:ext cx="1948111" cy="222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conversation only</a:t>
            </a:r>
            <a:endParaRPr lang="en-US" sz="1000" dirty="0"/>
          </a:p>
        </p:txBody>
      </p:sp>
      <p:sp>
        <p:nvSpPr>
          <p:cNvPr id="35" name="txt-21"/>
          <p:cNvSpPr/>
          <p:nvPr/>
        </p:nvSpPr>
        <p:spPr>
          <a:xfrm>
            <a:off x="634984" y="6102350"/>
            <a:ext cx="11074123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GPS, CAMERA AND CONTEXT DECIDE THE MODE — THE USER NEVER TOUCHES A SETTING</a:t>
            </a:r>
            <a:endParaRPr lang="en-US" sz="800" dirty="0"/>
          </a:p>
        </p:txBody>
      </p:sp>
      <p:sp>
        <p:nvSpPr>
          <p:cNvPr id="36" name="svg-0"/>
          <p:cNvSpPr/>
          <p:nvPr/>
        </p:nvSpPr>
        <p:spPr>
          <a:xfrm>
            <a:off x="634984" y="4044454"/>
            <a:ext cx="2113207" cy="0"/>
          </a:xfrm>
          <a:prstGeom prst="line">
            <a:avLst/>
          </a:prstGeom>
          <a:ln w="63500">
            <a:solidFill>
              <a:srgbClr val="2F2F2C"/>
            </a:solidFill>
            <a:prstDash val="solid"/>
          </a:ln>
        </p:spPr>
      </p:sp>
      <p:sp>
        <p:nvSpPr>
          <p:cNvPr id="37" name="svg-1"/>
          <p:cNvSpPr/>
          <p:nvPr/>
        </p:nvSpPr>
        <p:spPr>
          <a:xfrm>
            <a:off x="2748191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8" name="svg-2"/>
          <p:cNvSpPr/>
          <p:nvPr/>
        </p:nvSpPr>
        <p:spPr>
          <a:xfrm>
            <a:off x="634984" y="4831854"/>
            <a:ext cx="211320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39" name="svg-3"/>
          <p:cNvSpPr/>
          <p:nvPr/>
        </p:nvSpPr>
        <p:spPr>
          <a:xfrm>
            <a:off x="634984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0" name="svg-4"/>
          <p:cNvSpPr/>
          <p:nvPr/>
        </p:nvSpPr>
        <p:spPr>
          <a:xfrm>
            <a:off x="2837089" y="4044454"/>
            <a:ext cx="2113307" cy="0"/>
          </a:xfrm>
          <a:prstGeom prst="line">
            <a:avLst/>
          </a:prstGeom>
          <a:ln w="63500">
            <a:solidFill>
              <a:srgbClr val="2F2F2C"/>
            </a:solidFill>
            <a:prstDash val="solid"/>
          </a:ln>
        </p:spPr>
      </p:sp>
      <p:sp>
        <p:nvSpPr>
          <p:cNvPr id="41" name="svg-5"/>
          <p:cNvSpPr/>
          <p:nvPr/>
        </p:nvSpPr>
        <p:spPr>
          <a:xfrm>
            <a:off x="4950396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2" name="svg-6"/>
          <p:cNvSpPr/>
          <p:nvPr/>
        </p:nvSpPr>
        <p:spPr>
          <a:xfrm>
            <a:off x="2837089" y="4831854"/>
            <a:ext cx="211330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3" name="svg-7"/>
          <p:cNvSpPr/>
          <p:nvPr/>
        </p:nvSpPr>
        <p:spPr>
          <a:xfrm>
            <a:off x="2837089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4" name="svg-8"/>
          <p:cNvSpPr/>
          <p:nvPr/>
        </p:nvSpPr>
        <p:spPr>
          <a:xfrm>
            <a:off x="5039294" y="4044454"/>
            <a:ext cx="2113207" cy="0"/>
          </a:xfrm>
          <a:prstGeom prst="line">
            <a:avLst/>
          </a:prstGeom>
          <a:ln w="63500">
            <a:solidFill>
              <a:srgbClr val="2F2F2C"/>
            </a:solidFill>
            <a:prstDash val="solid"/>
          </a:ln>
        </p:spPr>
      </p:sp>
      <p:sp>
        <p:nvSpPr>
          <p:cNvPr id="45" name="svg-9"/>
          <p:cNvSpPr/>
          <p:nvPr/>
        </p:nvSpPr>
        <p:spPr>
          <a:xfrm>
            <a:off x="7152501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6" name="svg-10"/>
          <p:cNvSpPr/>
          <p:nvPr/>
        </p:nvSpPr>
        <p:spPr>
          <a:xfrm>
            <a:off x="5039294" y="4831854"/>
            <a:ext cx="211320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7" name="svg-11"/>
          <p:cNvSpPr/>
          <p:nvPr/>
        </p:nvSpPr>
        <p:spPr>
          <a:xfrm>
            <a:off x="5039294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48" name="svg-12"/>
          <p:cNvSpPr/>
          <p:nvPr/>
        </p:nvSpPr>
        <p:spPr>
          <a:xfrm>
            <a:off x="7241399" y="4044454"/>
            <a:ext cx="2113207" cy="0"/>
          </a:xfrm>
          <a:prstGeom prst="line">
            <a:avLst/>
          </a:prstGeom>
          <a:ln w="63500">
            <a:solidFill>
              <a:srgbClr val="2F2F2C"/>
            </a:solidFill>
            <a:prstDash val="solid"/>
          </a:ln>
        </p:spPr>
      </p:sp>
      <p:sp>
        <p:nvSpPr>
          <p:cNvPr id="49" name="svg-13"/>
          <p:cNvSpPr/>
          <p:nvPr/>
        </p:nvSpPr>
        <p:spPr>
          <a:xfrm>
            <a:off x="9354606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50" name="svg-14"/>
          <p:cNvSpPr/>
          <p:nvPr/>
        </p:nvSpPr>
        <p:spPr>
          <a:xfrm>
            <a:off x="7241399" y="4831854"/>
            <a:ext cx="211320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51" name="svg-15"/>
          <p:cNvSpPr/>
          <p:nvPr/>
        </p:nvSpPr>
        <p:spPr>
          <a:xfrm>
            <a:off x="7241399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52" name="svg-16"/>
          <p:cNvSpPr/>
          <p:nvPr/>
        </p:nvSpPr>
        <p:spPr>
          <a:xfrm>
            <a:off x="9443504" y="4044454"/>
            <a:ext cx="2113207" cy="0"/>
          </a:xfrm>
          <a:prstGeom prst="line">
            <a:avLst/>
          </a:prstGeom>
          <a:ln w="63500">
            <a:solidFill>
              <a:srgbClr val="2F2F2C"/>
            </a:solidFill>
            <a:prstDash val="solid"/>
          </a:ln>
        </p:spPr>
      </p:sp>
      <p:sp>
        <p:nvSpPr>
          <p:cNvPr id="53" name="svg-17"/>
          <p:cNvSpPr/>
          <p:nvPr/>
        </p:nvSpPr>
        <p:spPr>
          <a:xfrm>
            <a:off x="11556711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54" name="svg-18"/>
          <p:cNvSpPr/>
          <p:nvPr/>
        </p:nvSpPr>
        <p:spPr>
          <a:xfrm>
            <a:off x="9443504" y="4831854"/>
            <a:ext cx="211320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55" name="svg-19"/>
          <p:cNvSpPr/>
          <p:nvPr/>
        </p:nvSpPr>
        <p:spPr>
          <a:xfrm>
            <a:off x="9443504" y="4044454"/>
            <a:ext cx="0" cy="78740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20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20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20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4" name="pg20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PROTOTYPE — CANE-AWARE BY DESIGN</a:t>
            </a:r>
            <a:endParaRPr lang="en-US" sz="950" dirty="0"/>
          </a:p>
        </p:txBody>
      </p:sp>
      <p:sp>
        <p:nvSpPr>
          <p:cNvPr id="5" name="pg20-Rule-3/decor-1"/>
          <p:cNvSpPr/>
          <p:nvPr/>
        </p:nvSpPr>
        <p:spPr>
          <a:xfrm>
            <a:off x="634984" y="2822377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6" name="pg20-Rule-4/decor-2"/>
          <p:cNvSpPr/>
          <p:nvPr/>
        </p:nvSpPr>
        <p:spPr>
          <a:xfrm>
            <a:off x="634984" y="3393877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7" name="pg20-Rule-5/decor-3"/>
          <p:cNvSpPr/>
          <p:nvPr/>
        </p:nvSpPr>
        <p:spPr>
          <a:xfrm>
            <a:off x="634984" y="3965377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8" name="pg20-Rule-6/decor-4"/>
          <p:cNvSpPr/>
          <p:nvPr/>
        </p:nvSpPr>
        <p:spPr>
          <a:xfrm>
            <a:off x="634984" y="4536877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9" name="pg20-Rule-7/decor-5"/>
          <p:cNvSpPr/>
          <p:nvPr/>
        </p:nvSpPr>
        <p:spPr>
          <a:xfrm>
            <a:off x="634984" y="5108377"/>
            <a:ext cx="10921727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0" name="txt-2"/>
          <p:cNvSpPr/>
          <p:nvPr/>
        </p:nvSpPr>
        <p:spPr>
          <a:xfrm>
            <a:off x="634984" y="1231900"/>
            <a:ext cx="11117302" cy="11789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CANE STAYS THE CANE. </a:t>
            </a:r>
            <a:pPr algn="l" indent="0" marL="0">
              <a:buNone/>
            </a:pPr>
            <a:r>
              <a:rPr lang="en-US" sz="44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AI FILLS THE BLIND SPOTS.</a:t>
            </a:r>
            <a:endParaRPr lang="en-US" sz="4400" dirty="0"/>
          </a:p>
        </p:txBody>
      </p:sp>
      <p:sp>
        <p:nvSpPr>
          <p:cNvPr id="11" name="txt-3"/>
          <p:cNvSpPr/>
          <p:nvPr/>
        </p:nvSpPr>
        <p:spPr>
          <a:xfrm>
            <a:off x="634984" y="2606477"/>
            <a:ext cx="3136822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HAZARD</a:t>
            </a:r>
            <a:endParaRPr lang="en-US" sz="850" dirty="0"/>
          </a:p>
        </p:txBody>
      </p:sp>
      <p:sp>
        <p:nvSpPr>
          <p:cNvPr id="12" name="txt-4"/>
          <p:cNvSpPr/>
          <p:nvPr/>
        </p:nvSpPr>
        <p:spPr>
          <a:xfrm>
            <a:off x="3619410" y="2606477"/>
            <a:ext cx="2057349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WHITE CANE</a:t>
            </a:r>
            <a:endParaRPr lang="en-US" sz="850" dirty="0"/>
          </a:p>
        </p:txBody>
      </p:sp>
      <p:sp>
        <p:nvSpPr>
          <p:cNvPr id="13" name="txt-5"/>
          <p:cNvSpPr/>
          <p:nvPr/>
        </p:nvSpPr>
        <p:spPr>
          <a:xfrm>
            <a:off x="5524362" y="2606477"/>
            <a:ext cx="2311342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CORTEX</a:t>
            </a:r>
            <a:endParaRPr lang="en-US" sz="850" dirty="0"/>
          </a:p>
        </p:txBody>
      </p:sp>
      <p:sp>
        <p:nvSpPr>
          <p:cNvPr id="14" name="txt-6"/>
          <p:cNvSpPr/>
          <p:nvPr/>
        </p:nvSpPr>
        <p:spPr>
          <a:xfrm>
            <a:off x="7683308" y="2606477"/>
            <a:ext cx="4025799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WHY</a:t>
            </a:r>
            <a:endParaRPr lang="en-US" sz="850" dirty="0"/>
          </a:p>
        </p:txBody>
      </p:sp>
      <p:sp>
        <p:nvSpPr>
          <p:cNvPr id="15" name="txt-7"/>
          <p:cNvSpPr/>
          <p:nvPr/>
        </p:nvSpPr>
        <p:spPr>
          <a:xfrm>
            <a:off x="634984" y="3000177"/>
            <a:ext cx="3136822" cy="273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GROUND-LEVEL OBSTACLES</a:t>
            </a:r>
            <a:endParaRPr lang="en-US" sz="1300" dirty="0"/>
          </a:p>
        </p:txBody>
      </p:sp>
      <p:sp>
        <p:nvSpPr>
          <p:cNvPr id="16" name="txt-8"/>
          <p:cNvSpPr/>
          <p:nvPr/>
        </p:nvSpPr>
        <p:spPr>
          <a:xfrm>
            <a:off x="3619410" y="3038277"/>
            <a:ext cx="2057349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DETECTED</a:t>
            </a:r>
            <a:endParaRPr lang="en-US" sz="1000" dirty="0"/>
          </a:p>
        </p:txBody>
      </p:sp>
      <p:sp>
        <p:nvSpPr>
          <p:cNvPr id="17" name="txt-9"/>
          <p:cNvSpPr/>
          <p:nvPr/>
        </p:nvSpPr>
        <p:spPr>
          <a:xfrm>
            <a:off x="5524362" y="3038277"/>
            <a:ext cx="2311342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STAYS QUIET</a:t>
            </a:r>
            <a:endParaRPr lang="en-US" sz="1000" dirty="0"/>
          </a:p>
        </p:txBody>
      </p:sp>
      <p:sp>
        <p:nvSpPr>
          <p:cNvPr id="18" name="txt-10"/>
          <p:cNvSpPr/>
          <p:nvPr/>
        </p:nvSpPr>
        <p:spPr>
          <a:xfrm>
            <a:off x="7683308" y="3016052"/>
            <a:ext cx="4025799" cy="241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cane already owns the ground</a:t>
            </a:r>
            <a:endParaRPr lang="en-US" sz="1100" dirty="0"/>
          </a:p>
        </p:txBody>
      </p:sp>
      <p:sp>
        <p:nvSpPr>
          <p:cNvPr id="19" name="txt-11"/>
          <p:cNvSpPr/>
          <p:nvPr/>
        </p:nvSpPr>
        <p:spPr>
          <a:xfrm>
            <a:off x="634984" y="3571677"/>
            <a:ext cx="3136822" cy="273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OVERHEAD BARRIERS &amp; BRANCHES</a:t>
            </a:r>
            <a:endParaRPr lang="en-US" sz="1300" dirty="0"/>
          </a:p>
        </p:txBody>
      </p:sp>
      <p:sp>
        <p:nvSpPr>
          <p:cNvPr id="20" name="txt-12"/>
          <p:cNvSpPr/>
          <p:nvPr/>
        </p:nvSpPr>
        <p:spPr>
          <a:xfrm>
            <a:off x="3619410" y="3609777"/>
            <a:ext cx="2057349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MISSED</a:t>
            </a:r>
            <a:endParaRPr lang="en-US" sz="1000" dirty="0"/>
          </a:p>
        </p:txBody>
      </p:sp>
      <p:sp>
        <p:nvSpPr>
          <p:cNvPr id="21" name="txt-13"/>
          <p:cNvSpPr/>
          <p:nvPr/>
        </p:nvSpPr>
        <p:spPr>
          <a:xfrm>
            <a:off x="5524362" y="3609777"/>
            <a:ext cx="2311342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ALERT &lt; 100 MS</a:t>
            </a:r>
            <a:endParaRPr lang="en-US" sz="1000" dirty="0"/>
          </a:p>
        </p:txBody>
      </p:sp>
      <p:sp>
        <p:nvSpPr>
          <p:cNvPr id="22" name="txt-14"/>
          <p:cNvSpPr/>
          <p:nvPr/>
        </p:nvSpPr>
        <p:spPr>
          <a:xfrm>
            <a:off x="7683308" y="3587552"/>
            <a:ext cx="4025799" cy="241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classic head-height blind spot</a:t>
            </a:r>
            <a:endParaRPr lang="en-US" sz="1100" dirty="0"/>
          </a:p>
        </p:txBody>
      </p:sp>
      <p:sp>
        <p:nvSpPr>
          <p:cNvPr id="23" name="txt-15"/>
          <p:cNvSpPr/>
          <p:nvPr/>
        </p:nvSpPr>
        <p:spPr>
          <a:xfrm>
            <a:off x="634984" y="4143177"/>
            <a:ext cx="3136822" cy="273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STAIRS GOING UP</a:t>
            </a:r>
            <a:endParaRPr lang="en-US" sz="1300" dirty="0"/>
          </a:p>
        </p:txBody>
      </p:sp>
      <p:sp>
        <p:nvSpPr>
          <p:cNvPr id="24" name="txt-16"/>
          <p:cNvSpPr/>
          <p:nvPr/>
        </p:nvSpPr>
        <p:spPr>
          <a:xfrm>
            <a:off x="3619410" y="4181277"/>
            <a:ext cx="2057349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TOO LATE</a:t>
            </a:r>
            <a:endParaRPr lang="en-US" sz="1000" dirty="0"/>
          </a:p>
        </p:txBody>
      </p:sp>
      <p:sp>
        <p:nvSpPr>
          <p:cNvPr id="25" name="txt-17"/>
          <p:cNvSpPr/>
          <p:nvPr/>
        </p:nvSpPr>
        <p:spPr>
          <a:xfrm>
            <a:off x="5524362" y="4181277"/>
            <a:ext cx="2311342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ALERT &lt; 100 MS</a:t>
            </a:r>
            <a:endParaRPr lang="en-US" sz="1000" dirty="0"/>
          </a:p>
        </p:txBody>
      </p:sp>
      <p:sp>
        <p:nvSpPr>
          <p:cNvPr id="26" name="txt-18"/>
          <p:cNvSpPr/>
          <p:nvPr/>
        </p:nvSpPr>
        <p:spPr>
          <a:xfrm>
            <a:off x="7683308" y="4159052"/>
            <a:ext cx="4025799" cy="241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spotted before the first step</a:t>
            </a:r>
            <a:endParaRPr lang="en-US" sz="1100" dirty="0"/>
          </a:p>
        </p:txBody>
      </p:sp>
      <p:sp>
        <p:nvSpPr>
          <p:cNvPr id="27" name="txt-19"/>
          <p:cNvSpPr/>
          <p:nvPr/>
        </p:nvSpPr>
        <p:spPr>
          <a:xfrm>
            <a:off x="634984" y="4714677"/>
            <a:ext cx="3136822" cy="273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FAST-APPROACHING VEHICLES</a:t>
            </a:r>
            <a:endParaRPr lang="en-US" sz="1300" dirty="0"/>
          </a:p>
        </p:txBody>
      </p:sp>
      <p:sp>
        <p:nvSpPr>
          <p:cNvPr id="28" name="txt-20"/>
          <p:cNvSpPr/>
          <p:nvPr/>
        </p:nvSpPr>
        <p:spPr>
          <a:xfrm>
            <a:off x="3619410" y="4752777"/>
            <a:ext cx="2057349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MISSED</a:t>
            </a:r>
            <a:endParaRPr lang="en-US" sz="1000" dirty="0"/>
          </a:p>
        </p:txBody>
      </p:sp>
      <p:sp>
        <p:nvSpPr>
          <p:cNvPr id="29" name="txt-21"/>
          <p:cNvSpPr/>
          <p:nvPr/>
        </p:nvSpPr>
        <p:spPr>
          <a:xfrm>
            <a:off x="5524362" y="4752777"/>
            <a:ext cx="2311342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ALERT + HAPTIC</a:t>
            </a:r>
            <a:endParaRPr lang="en-US" sz="1000" dirty="0"/>
          </a:p>
        </p:txBody>
      </p:sp>
      <p:sp>
        <p:nvSpPr>
          <p:cNvPr id="30" name="txt-22"/>
          <p:cNvSpPr/>
          <p:nvPr/>
        </p:nvSpPr>
        <p:spPr>
          <a:xfrm>
            <a:off x="7683308" y="4730552"/>
            <a:ext cx="4025799" cy="241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speed measured, not guessed</a:t>
            </a:r>
            <a:endParaRPr lang="en-US" sz="1100" dirty="0"/>
          </a:p>
        </p:txBody>
      </p:sp>
      <p:sp>
        <p:nvSpPr>
          <p:cNvPr id="31" name="txt-23"/>
          <p:cNvSpPr/>
          <p:nvPr/>
        </p:nvSpPr>
        <p:spPr>
          <a:xfrm>
            <a:off x="634984" y="5394127"/>
            <a:ext cx="9042174" cy="5478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indoors, Cortex stays quiet about walls and curbs the cane already handles — </a:t>
            </a:r>
            <a:pPr algn="l" indent="0" marL="0">
              <a:buNone/>
            </a:pPr>
            <a:r>
              <a:rPr lang="en-US" sz="135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less noise, more trust.</a:t>
            </a:r>
            <a:pPr algn="l" indent="0" marL="0">
              <a:buNone/>
            </a:pPr>
            <a:r>
              <a:rPr lang="en-US" sz="135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that single decision came straight from user testing.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21-StageDivider-0/pg21-Chrome-2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21-StageDivider-0/pg21-Chrome-2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21-StageDivider-0/pg21-Chrome-2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primimg:pg21-Halftone-3:pg21-StageDivider-0/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98500"/>
          </a:xfrm>
          <a:prstGeom prst="rect">
            <a:avLst/>
          </a:prstGeom>
        </p:spPr>
      </p:pic>
      <p:sp>
        <p:nvSpPr>
          <p:cNvPr id="5" name="pg21-StageDivider-0/pg21-Tag-4/txt-2"/>
          <p:cNvSpPr/>
          <p:nvPr/>
        </p:nvSpPr>
        <p:spPr>
          <a:xfrm>
            <a:off x="2990775" y="1168400"/>
            <a:ext cx="8718332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STAGE 06 // DESIGN THINKING</a:t>
            </a:r>
            <a:endParaRPr lang="en-US" sz="950" dirty="0"/>
          </a:p>
        </p:txBody>
      </p:sp>
      <p:grpSp>
        <p:nvGrpSpPr>
          <p:cNvPr id="1001" name="pg21-StageDivider-0/pg21-LoopRail-5"/>
          <p:cNvGrpSpPr/>
          <p:nvPr/>
        </p:nvGrpSpPr>
        <p:grpSpPr>
          <a:xfrm>
            <a:off x="634984" y="5461000"/>
            <a:ext cx="11074123" cy="933450"/>
            <a:chOff x="634984" y="5461000"/>
            <a:chExt cx="11074123" cy="933450"/>
          </a:xfrm>
        </p:grpSpPr>
        <p:sp>
          <p:nvSpPr>
            <p:cNvPr id="6" name="pg21-StageDivider-0/pg21-LoopRail-5/decor-1"/>
            <p:cNvSpPr/>
            <p:nvPr/>
          </p:nvSpPr>
          <p:spPr>
            <a:xfrm>
              <a:off x="1206470" y="563245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7" name="pg21-StageDivider-0/pg21-LoopRail-5/decor-2"/>
            <p:cNvSpPr/>
            <p:nvPr/>
          </p:nvSpPr>
          <p:spPr>
            <a:xfrm>
              <a:off x="1092173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8" name="pg21-StageDivider-0/pg21-LoopRail-5/decor-3"/>
            <p:cNvSpPr/>
            <p:nvPr/>
          </p:nvSpPr>
          <p:spPr>
            <a:xfrm>
              <a:off x="3022524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9" name="pg21-StageDivider-0/pg21-LoopRail-5/decor-4"/>
            <p:cNvSpPr/>
            <p:nvPr/>
          </p:nvSpPr>
          <p:spPr>
            <a:xfrm>
              <a:off x="4952876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0" name="pg21-StageDivider-0/pg21-LoopRail-5/decor-5"/>
            <p:cNvSpPr/>
            <p:nvPr/>
          </p:nvSpPr>
          <p:spPr>
            <a:xfrm>
              <a:off x="6883228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1" name="pg21-StageDivider-0/pg21-LoopRail-5/decor-6"/>
            <p:cNvSpPr/>
            <p:nvPr/>
          </p:nvSpPr>
          <p:spPr>
            <a:xfrm>
              <a:off x="8813580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2" name="pg21-StageDivider-0/pg21-LoopRail-5/decor-7"/>
            <p:cNvSpPr/>
            <p:nvPr/>
          </p:nvSpPr>
          <p:spPr>
            <a:xfrm>
              <a:off x="10743931" y="546100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13" name="pg21-StageDivider-0/pg21-LoopRail-5/decor-8"/>
            <p:cNvSpPr/>
            <p:nvPr/>
          </p:nvSpPr>
          <p:spPr>
            <a:xfrm>
              <a:off x="1206470" y="581025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4" name="pg21-StageDivider-0/pg21-LoopRail-5/decor-9"/>
            <p:cNvSpPr/>
            <p:nvPr/>
          </p:nvSpPr>
          <p:spPr>
            <a:xfrm>
              <a:off x="1130272" y="571500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15" name="pg21-StageDivider-0/pg21-LoopRail-5/txt-5"/>
            <p:cNvSpPr/>
            <p:nvPr/>
          </p:nvSpPr>
          <p:spPr>
            <a:xfrm>
              <a:off x="1092173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16" name="pg21-StageDivider-0/pg21-LoopRail-5/txt-6"/>
            <p:cNvSpPr/>
            <p:nvPr/>
          </p:nvSpPr>
          <p:spPr>
            <a:xfrm>
              <a:off x="3022524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7" name="pg21-StageDivider-0/pg21-LoopRail-5/txt-7"/>
            <p:cNvSpPr/>
            <p:nvPr/>
          </p:nvSpPr>
          <p:spPr>
            <a:xfrm>
              <a:off x="4952876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8" name="pg21-StageDivider-0/pg21-LoopRail-5/txt-8"/>
            <p:cNvSpPr/>
            <p:nvPr/>
          </p:nvSpPr>
          <p:spPr>
            <a:xfrm>
              <a:off x="6883228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19" name="pg21-StageDivider-0/pg21-LoopRail-5/txt-9"/>
            <p:cNvSpPr/>
            <p:nvPr/>
          </p:nvSpPr>
          <p:spPr>
            <a:xfrm>
              <a:off x="8813580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0" name="pg21-StageDivider-0/pg21-LoopRail-5/txt-10"/>
            <p:cNvSpPr/>
            <p:nvPr/>
          </p:nvSpPr>
          <p:spPr>
            <a:xfrm>
              <a:off x="10743931" y="546100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1" name="pg21-StageDivider-0/pg21-LoopRail-5/txt-11"/>
            <p:cNvSpPr/>
            <p:nvPr/>
          </p:nvSpPr>
          <p:spPr>
            <a:xfrm>
              <a:off x="634984" y="621030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2" name="pg21-StageDivider-0/pg21-LoopRail-5/svg-0"/>
            <p:cNvSpPr/>
            <p:nvPr/>
          </p:nvSpPr>
          <p:spPr>
            <a:xfrm>
              <a:off x="10985225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3" name="pg21-StageDivider-0/pg21-LoopRail-5/svg-1"/>
            <p:cNvSpPr/>
            <p:nvPr/>
          </p:nvSpPr>
          <p:spPr>
            <a:xfrm>
              <a:off x="1206470" y="614045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4" name="pg21-StageDivider-0/pg21-LoopRail-5/svg-2"/>
            <p:cNvSpPr/>
            <p:nvPr/>
          </p:nvSpPr>
          <p:spPr>
            <a:xfrm>
              <a:off x="1206470" y="581025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5" name="pg21-StageDivider-0/pg21-LoopRail-5/svg-3"/>
            <p:cNvSpPr/>
            <p:nvPr/>
          </p:nvSpPr>
          <p:spPr>
            <a:xfrm>
              <a:off x="1219170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26" name="pg21-StageDivider-0/pg21-LoopRail-5/svg-4"/>
            <p:cNvSpPr/>
            <p:nvPr/>
          </p:nvSpPr>
          <p:spPr>
            <a:xfrm>
              <a:off x="1130272" y="581660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27" name="pg21-StageDivider-0/pg21-LoopRail-5/svg-5"/>
            <p:cNvSpPr/>
            <p:nvPr/>
          </p:nvSpPr>
          <p:spPr>
            <a:xfrm>
              <a:off x="1130272" y="571500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28" name="pg21-StageDivider-0/txt-1"/>
          <p:cNvSpPr/>
          <p:nvPr/>
        </p:nvSpPr>
        <p:spPr>
          <a:xfrm>
            <a:off x="634984" y="952500"/>
            <a:ext cx="2644709" cy="2095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500" dirty="0">
                <a:solidFill>
                  <a:srgbClr val="0A0A08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06</a:t>
            </a:r>
            <a:endParaRPr lang="en-US" sz="16500" dirty="0"/>
          </a:p>
        </p:txBody>
      </p:sp>
      <p:sp>
        <p:nvSpPr>
          <p:cNvPr id="29" name="pg21-StageDivider-0/txt-3"/>
          <p:cNvSpPr/>
          <p:nvPr/>
        </p:nvSpPr>
        <p:spPr>
          <a:xfrm>
            <a:off x="2990775" y="1422400"/>
            <a:ext cx="8850409" cy="894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TEST</a:t>
            </a:r>
            <a:endParaRPr lang="en-US" sz="6400" dirty="0"/>
          </a:p>
        </p:txBody>
      </p:sp>
      <p:sp>
        <p:nvSpPr>
          <p:cNvPr id="30" name="pg21-StageDivider-0/txt-4"/>
          <p:cNvSpPr/>
          <p:nvPr/>
        </p:nvSpPr>
        <p:spPr>
          <a:xfrm>
            <a:off x="2990775" y="2410420"/>
            <a:ext cx="6819730" cy="7022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Does it work for real users — and what did we get wrong the first time?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22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22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22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62" y="4572000"/>
            <a:ext cx="2666933" cy="2286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452" y="4965700"/>
            <a:ext cx="2273243" cy="18923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142" y="5359400"/>
            <a:ext cx="1879553" cy="14986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832" y="5753100"/>
            <a:ext cx="1485863" cy="11049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9523" y="6146800"/>
            <a:ext cx="914377" cy="711200"/>
          </a:xfrm>
          <a:prstGeom prst="rect">
            <a:avLst/>
          </a:prstGeom>
        </p:spPr>
      </p:pic>
      <p:sp>
        <p:nvSpPr>
          <p:cNvPr id="9" name="pg22-Tag-3/txt-1"/>
          <p:cNvSpPr/>
          <p:nvPr/>
        </p:nvSpPr>
        <p:spPr>
          <a:xfrm>
            <a:off x="634984" y="1536402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06 TEST — THE MOMENT WE LISTENED</a:t>
            </a:r>
            <a:endParaRPr lang="en-US" sz="950" dirty="0"/>
          </a:p>
        </p:txBody>
      </p:sp>
      <p:sp>
        <p:nvSpPr>
          <p:cNvPr id="10" name="txt-2"/>
          <p:cNvSpPr/>
          <p:nvPr/>
        </p:nvSpPr>
        <p:spPr>
          <a:xfrm>
            <a:off x="634984" y="1930102"/>
            <a:ext cx="11343991" cy="12668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“</a:t>
            </a:r>
            <a:endParaRPr lang="en-US" sz="9500" dirty="0"/>
          </a:p>
        </p:txBody>
      </p:sp>
      <p:sp>
        <p:nvSpPr>
          <p:cNvPr id="11" name="txt-3"/>
          <p:cNvSpPr/>
          <p:nvPr/>
        </p:nvSpPr>
        <p:spPr>
          <a:xfrm>
            <a:off x="634984" y="3015952"/>
            <a:ext cx="10087993" cy="1202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THE SPATIAL AUDIO WAS OVERWHELMING — </a:t>
            </a:r>
            <a:pPr algn="l" indent="0" marL="0">
              <a:buNone/>
            </a:pPr>
            <a:r>
              <a:rPr lang="en-US" sz="4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WE COULDN'T HEAR OUR SURROUNDINGS.</a:t>
            </a:r>
            <a:endParaRPr lang="en-US" sz="4100" dirty="0"/>
          </a:p>
        </p:txBody>
      </p:sp>
      <p:sp>
        <p:nvSpPr>
          <p:cNvPr id="12" name="txt-4"/>
          <p:cNvSpPr/>
          <p:nvPr/>
        </p:nvSpPr>
        <p:spPr>
          <a:xfrm>
            <a:off x="634984" y="4369098"/>
            <a:ext cx="11074123" cy="196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— SAVH USER, AFTER TESTING PROTOTYPE V1</a:t>
            </a:r>
            <a:endParaRPr lang="en-US" sz="1000" dirty="0"/>
          </a:p>
        </p:txBody>
      </p:sp>
      <p:sp>
        <p:nvSpPr>
          <p:cNvPr id="13" name="txt-5"/>
          <p:cNvSpPr/>
          <p:nvPr/>
        </p:nvSpPr>
        <p:spPr>
          <a:xfrm>
            <a:off x="634984" y="4845348"/>
            <a:ext cx="8407190" cy="908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our first version poured 3D sound effects over everything. the test said: </a:t>
            </a:r>
            <a:pPr algn="l" indent="0" marL="0">
              <a:buNone/>
            </a:pPr>
            <a:r>
              <a:rPr lang="en-US" sz="1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for a blind user, your ears are a safety system — never drown them.</a:t>
            </a:r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 we stripped it back to one clear voice and rebuilt around the cane. failing here is what made V2 work.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159992"/>
            <a:ext cx="3234153" cy="228639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3" name="decor-2"/>
          <p:cNvSpPr/>
          <p:nvPr/>
        </p:nvSpPr>
        <p:spPr>
          <a:xfrm>
            <a:off x="4275527" y="2159992"/>
            <a:ext cx="3234252" cy="228639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F2F2C"/>
            </a:solidFill>
            <a:prstDash val="solid"/>
          </a:ln>
        </p:spPr>
      </p:sp>
      <p:sp>
        <p:nvSpPr>
          <p:cNvPr id="4" name="decor-3"/>
          <p:cNvSpPr/>
          <p:nvPr/>
        </p:nvSpPr>
        <p:spPr>
          <a:xfrm>
            <a:off x="7916168" y="2159992"/>
            <a:ext cx="3640543" cy="228639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516"/>
            </a:solidFill>
            <a:prstDash val="solid"/>
          </a:ln>
        </p:spPr>
      </p:sp>
      <p:grpSp>
        <p:nvGrpSpPr>
          <p:cNvPr id="1000" name="pg23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5" name="pg23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6" name="pg23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sp>
        <p:nvSpPr>
          <p:cNvPr id="7" name="pg23-Tag-2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STAGE 06 TEST → ITERATE → REPEAT</a:t>
            </a:r>
            <a:endParaRPr lang="en-US" sz="950" dirty="0"/>
          </a:p>
        </p:txBody>
      </p:sp>
      <p:sp>
        <p:nvSpPr>
          <p:cNvPr id="8" name="txt-2"/>
          <p:cNvSpPr/>
          <p:nvPr/>
        </p:nvSpPr>
        <p:spPr>
          <a:xfrm>
            <a:off x="634984" y="1231900"/>
            <a:ext cx="11126192" cy="6601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THREE ROUNDS OF LISTENING</a:t>
            </a:r>
            <a:endParaRPr lang="en-US" sz="4600" dirty="0"/>
          </a:p>
        </p:txBody>
      </p:sp>
      <p:sp>
        <p:nvSpPr>
          <p:cNvPr id="9" name="txt-3"/>
          <p:cNvSpPr/>
          <p:nvPr/>
        </p:nvSpPr>
        <p:spPr>
          <a:xfrm>
            <a:off x="857229" y="2394942"/>
            <a:ext cx="618594" cy="525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V1</a:t>
            </a:r>
            <a:endParaRPr lang="en-US" sz="3600" dirty="0"/>
          </a:p>
        </p:txBody>
      </p:sp>
      <p:sp>
        <p:nvSpPr>
          <p:cNvPr id="10" name="txt-4"/>
          <p:cNvSpPr/>
          <p:nvPr/>
        </p:nvSpPr>
        <p:spPr>
          <a:xfrm>
            <a:off x="1430103" y="2680692"/>
            <a:ext cx="947813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FIRST BUILD</a:t>
            </a:r>
            <a:endParaRPr lang="en-US" sz="850" dirty="0"/>
          </a:p>
        </p:txBody>
      </p:sp>
      <p:sp>
        <p:nvSpPr>
          <p:cNvPr id="11" name="txt-5"/>
          <p:cNvSpPr/>
          <p:nvPr/>
        </p:nvSpPr>
        <p:spPr>
          <a:xfrm>
            <a:off x="857229" y="3017242"/>
            <a:ext cx="294206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spatial 3D audio everywhere</a:t>
            </a:r>
            <a:endParaRPr lang="en-US" sz="1100" dirty="0"/>
          </a:p>
        </p:txBody>
      </p:sp>
      <p:sp>
        <p:nvSpPr>
          <p:cNvPr id="12" name="txt-6"/>
          <p:cNvSpPr/>
          <p:nvPr/>
        </p:nvSpPr>
        <p:spPr>
          <a:xfrm>
            <a:off x="857229" y="3281958"/>
            <a:ext cx="294206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single camera, monocular depth</a:t>
            </a:r>
            <a:endParaRPr lang="en-US" sz="1100" dirty="0"/>
          </a:p>
        </p:txBody>
      </p:sp>
      <p:sp>
        <p:nvSpPr>
          <p:cNvPr id="13" name="txt-7"/>
          <p:cNvSpPr/>
          <p:nvPr/>
        </p:nvSpPr>
        <p:spPr>
          <a:xfrm>
            <a:off x="857229" y="3546673"/>
            <a:ext cx="294206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alerts for every obstacle</a:t>
            </a:r>
            <a:endParaRPr lang="en-US" sz="1100" dirty="0"/>
          </a:p>
        </p:txBody>
      </p:sp>
      <p:sp>
        <p:nvSpPr>
          <p:cNvPr id="14" name="txt-8"/>
          <p:cNvSpPr/>
          <p:nvPr/>
        </p:nvSpPr>
        <p:spPr>
          <a:xfrm>
            <a:off x="857229" y="3735189"/>
            <a:ext cx="2942060" cy="527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FAILED THE TEST — too noisy, too distracting</a:t>
            </a:r>
            <a:endParaRPr lang="en-US" sz="850" dirty="0"/>
          </a:p>
        </p:txBody>
      </p:sp>
      <p:sp>
        <p:nvSpPr>
          <p:cNvPr id="15" name="txt-9"/>
          <p:cNvSpPr/>
          <p:nvPr/>
        </p:nvSpPr>
        <p:spPr>
          <a:xfrm>
            <a:off x="4022128" y="2962672"/>
            <a:ext cx="252704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xt-10"/>
          <p:cNvSpPr/>
          <p:nvPr/>
        </p:nvSpPr>
        <p:spPr>
          <a:xfrm>
            <a:off x="4015183" y="3210322"/>
            <a:ext cx="266693" cy="48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ITERATE</a:t>
            </a:r>
            <a:endParaRPr lang="en-US" sz="750" dirty="0"/>
          </a:p>
        </p:txBody>
      </p:sp>
      <p:sp>
        <p:nvSpPr>
          <p:cNvPr id="17" name="txt-11"/>
          <p:cNvSpPr/>
          <p:nvPr/>
        </p:nvSpPr>
        <p:spPr>
          <a:xfrm>
            <a:off x="4497771" y="2394942"/>
            <a:ext cx="618594" cy="525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V2</a:t>
            </a:r>
            <a:endParaRPr lang="en-US" sz="3600" dirty="0"/>
          </a:p>
        </p:txBody>
      </p:sp>
      <p:sp>
        <p:nvSpPr>
          <p:cNvPr id="18" name="txt-12"/>
          <p:cNvSpPr/>
          <p:nvPr/>
        </p:nvSpPr>
        <p:spPr>
          <a:xfrm>
            <a:off x="5070646" y="2680692"/>
            <a:ext cx="1815459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REBUILT AROUND THE CANE</a:t>
            </a:r>
            <a:endParaRPr lang="en-US" sz="850" dirty="0"/>
          </a:p>
        </p:txBody>
      </p:sp>
      <p:sp>
        <p:nvSpPr>
          <p:cNvPr id="19" name="txt-13"/>
          <p:cNvSpPr/>
          <p:nvPr/>
        </p:nvSpPr>
        <p:spPr>
          <a:xfrm>
            <a:off x="4497771" y="3017242"/>
            <a:ext cx="2942159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one clear voice, cane-aware alerts</a:t>
            </a:r>
            <a:endParaRPr lang="en-US" sz="1100" dirty="0"/>
          </a:p>
        </p:txBody>
      </p:sp>
      <p:sp>
        <p:nvSpPr>
          <p:cNvPr id="20" name="txt-14"/>
          <p:cNvSpPr/>
          <p:nvPr/>
        </p:nvSpPr>
        <p:spPr>
          <a:xfrm>
            <a:off x="4497771" y="3281958"/>
            <a:ext cx="2942159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dual camera + ToF laser depth</a:t>
            </a:r>
            <a:endParaRPr lang="en-US" sz="1100" dirty="0"/>
          </a:p>
        </p:txBody>
      </p:sp>
      <p:sp>
        <p:nvSpPr>
          <p:cNvPr id="21" name="txt-15"/>
          <p:cNvSpPr/>
          <p:nvPr/>
        </p:nvSpPr>
        <p:spPr>
          <a:xfrm>
            <a:off x="4497771" y="3546673"/>
            <a:ext cx="2942159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navigation made the core feature</a:t>
            </a:r>
            <a:endParaRPr lang="en-US" sz="1100" dirty="0"/>
          </a:p>
        </p:txBody>
      </p:sp>
      <p:sp>
        <p:nvSpPr>
          <p:cNvPr id="22" name="txt-16"/>
          <p:cNvSpPr/>
          <p:nvPr/>
        </p:nvSpPr>
        <p:spPr>
          <a:xfrm>
            <a:off x="4497771" y="3735189"/>
            <a:ext cx="2942159" cy="5270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F4EC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TESTED WITH SAVH — "finally, something we can live with"</a:t>
            </a:r>
            <a:endParaRPr lang="en-US" sz="850" dirty="0"/>
          </a:p>
        </p:txBody>
      </p:sp>
      <p:sp>
        <p:nvSpPr>
          <p:cNvPr id="23" name="txt-17"/>
          <p:cNvSpPr/>
          <p:nvPr/>
        </p:nvSpPr>
        <p:spPr>
          <a:xfrm>
            <a:off x="7662770" y="2962672"/>
            <a:ext cx="252704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xt-18"/>
          <p:cNvSpPr/>
          <p:nvPr/>
        </p:nvSpPr>
        <p:spPr>
          <a:xfrm>
            <a:off x="7655825" y="3210322"/>
            <a:ext cx="266693" cy="48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ITERATE</a:t>
            </a:r>
            <a:endParaRPr lang="en-US" sz="750" dirty="0"/>
          </a:p>
        </p:txBody>
      </p:sp>
      <p:sp>
        <p:nvSpPr>
          <p:cNvPr id="25" name="txt-19"/>
          <p:cNvSpPr/>
          <p:nvPr/>
        </p:nvSpPr>
        <p:spPr>
          <a:xfrm>
            <a:off x="8138413" y="2394942"/>
            <a:ext cx="618594" cy="525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V3</a:t>
            </a:r>
            <a:endParaRPr lang="en-US" sz="3600" dirty="0"/>
          </a:p>
        </p:txBody>
      </p:sp>
      <p:sp>
        <p:nvSpPr>
          <p:cNvPr id="26" name="txt-20"/>
          <p:cNvSpPr/>
          <p:nvPr/>
        </p:nvSpPr>
        <p:spPr>
          <a:xfrm>
            <a:off x="8711288" y="2680692"/>
            <a:ext cx="947813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FIELD-READY</a:t>
            </a:r>
            <a:endParaRPr lang="en-US" sz="850" dirty="0"/>
          </a:p>
        </p:txBody>
      </p:sp>
      <p:sp>
        <p:nvSpPr>
          <p:cNvPr id="27" name="txt-21"/>
          <p:cNvSpPr/>
          <p:nvPr/>
        </p:nvSpPr>
        <p:spPr>
          <a:xfrm>
            <a:off x="8138413" y="3017242"/>
            <a:ext cx="334845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outdoor &amp; indoor auto-switching</a:t>
            </a:r>
            <a:endParaRPr lang="en-US" sz="1100" dirty="0"/>
          </a:p>
        </p:txBody>
      </p:sp>
      <p:sp>
        <p:nvSpPr>
          <p:cNvPr id="28" name="txt-22"/>
          <p:cNvSpPr/>
          <p:nvPr/>
        </p:nvSpPr>
        <p:spPr>
          <a:xfrm>
            <a:off x="8138413" y="3281958"/>
            <a:ext cx="334845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live bus navigation end to end</a:t>
            </a:r>
            <a:endParaRPr lang="en-US" sz="1100" dirty="0"/>
          </a:p>
        </p:txBody>
      </p:sp>
      <p:sp>
        <p:nvSpPr>
          <p:cNvPr id="29" name="txt-23"/>
          <p:cNvSpPr/>
          <p:nvPr/>
        </p:nvSpPr>
        <p:spPr>
          <a:xfrm>
            <a:off x="8138413" y="3546673"/>
            <a:ext cx="3348450" cy="239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lighter, wearable, open-ear</a:t>
            </a:r>
            <a:endParaRPr lang="en-US" sz="1100" dirty="0"/>
          </a:p>
        </p:txBody>
      </p:sp>
      <p:sp>
        <p:nvSpPr>
          <p:cNvPr id="30" name="txt-24"/>
          <p:cNvSpPr/>
          <p:nvPr/>
        </p:nvSpPr>
        <p:spPr>
          <a:xfrm>
            <a:off x="8138413" y="3897114"/>
            <a:ext cx="3348450" cy="3651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VALIDATED — three sessions and counting</a:t>
            </a:r>
            <a:endParaRPr lang="en-US" sz="850" dirty="0"/>
          </a:p>
        </p:txBody>
      </p:sp>
      <p:sp>
        <p:nvSpPr>
          <p:cNvPr id="31" name="txt-25"/>
          <p:cNvSpPr/>
          <p:nvPr/>
        </p:nvSpPr>
        <p:spPr>
          <a:xfrm>
            <a:off x="634984" y="4776589"/>
            <a:ext cx="8724682" cy="5478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each loop back through design thinking made the product simpler, quieter and more trusted — the opposite of what we assumed on day one.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"/>
          <p:cNvSpPr/>
          <p:nvPr/>
        </p:nvSpPr>
        <p:spPr>
          <a:xfrm>
            <a:off x="634984" y="2834084"/>
            <a:ext cx="5460863" cy="16807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decor-2"/>
          <p:cNvSpPr/>
          <p:nvPr/>
        </p:nvSpPr>
        <p:spPr>
          <a:xfrm>
            <a:off x="6095848" y="2834084"/>
            <a:ext cx="5460863" cy="16807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decor-3"/>
          <p:cNvSpPr/>
          <p:nvPr/>
        </p:nvSpPr>
        <p:spPr>
          <a:xfrm>
            <a:off x="634984" y="4514850"/>
            <a:ext cx="5460863" cy="16807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decor-4"/>
          <p:cNvSpPr/>
          <p:nvPr/>
        </p:nvSpPr>
        <p:spPr>
          <a:xfrm>
            <a:off x="6095848" y="4514850"/>
            <a:ext cx="5460863" cy="168076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decor-5"/>
          <p:cNvSpPr/>
          <p:nvPr/>
        </p:nvSpPr>
        <p:spPr>
          <a:xfrm>
            <a:off x="634984" y="6195616"/>
            <a:ext cx="10921727" cy="457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grpSp>
        <p:nvGrpSpPr>
          <p:cNvPr id="1000" name="pg24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7" name="pg24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8" name="pg24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9" name="primimg:pg24-Halftone-2:primimg-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759" y="952500"/>
            <a:ext cx="1904952" cy="635000"/>
          </a:xfrm>
          <a:prstGeom prst="rect">
            <a:avLst/>
          </a:prstGeom>
        </p:spPr>
      </p:pic>
      <p:sp>
        <p:nvSpPr>
          <p:cNvPr id="10" name="pg24-Tag-3/txt-1"/>
          <p:cNvSpPr/>
          <p:nvPr/>
        </p:nvSpPr>
        <p:spPr>
          <a:xfrm>
            <a:off x="634984" y="10160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REFLECTION — WHAT THE NUMBERS SAY</a:t>
            </a:r>
            <a:endParaRPr lang="en-US" sz="950" dirty="0"/>
          </a:p>
        </p:txBody>
      </p:sp>
      <p:sp>
        <p:nvSpPr>
          <p:cNvPr id="11" name="txt-2"/>
          <p:cNvSpPr/>
          <p:nvPr/>
        </p:nvSpPr>
        <p:spPr>
          <a:xfrm>
            <a:off x="634984" y="1308100"/>
            <a:ext cx="9729227" cy="1232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1/10 THE PRICE. </a:t>
            </a:r>
            <a:pPr algn="l" indent="0" marL="0">
              <a:buNone/>
            </a:pPr>
            <a:r>
              <a:rPr lang="en-US" sz="4600" b="1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PROVEN WITH REAL USERS.</a:t>
            </a:r>
            <a:endParaRPr lang="en-US" sz="4600" dirty="0"/>
          </a:p>
        </p:txBody>
      </p:sp>
      <p:sp>
        <p:nvSpPr>
          <p:cNvPr id="12" name="txt-3"/>
          <p:cNvSpPr/>
          <p:nvPr/>
        </p:nvSpPr>
        <p:spPr>
          <a:xfrm>
            <a:off x="634984" y="3081734"/>
            <a:ext cx="5317992" cy="768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55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US$186</a:t>
            </a:r>
            <a:endParaRPr lang="en-US" sz="5500" dirty="0"/>
          </a:p>
        </p:txBody>
      </p:sp>
      <p:sp>
        <p:nvSpPr>
          <p:cNvPr id="13" name="txt-4"/>
          <p:cNvSpPr/>
          <p:nvPr/>
        </p:nvSpPr>
        <p:spPr>
          <a:xfrm>
            <a:off x="634984" y="3846909"/>
            <a:ext cx="4089298" cy="264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parts cost — about 1/10 of existing AI glasses (US$2,500+)</a:t>
            </a:r>
            <a:endParaRPr lang="en-US" sz="1200" dirty="0"/>
          </a:p>
        </p:txBody>
      </p:sp>
      <p:sp>
        <p:nvSpPr>
          <p:cNvPr id="14" name="txt-5"/>
          <p:cNvSpPr/>
          <p:nvPr/>
        </p:nvSpPr>
        <p:spPr>
          <a:xfrm>
            <a:off x="6095848" y="3081734"/>
            <a:ext cx="5324342" cy="768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5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&lt;100 MS</a:t>
            </a:r>
            <a:endParaRPr lang="en-US" sz="5500" dirty="0"/>
          </a:p>
        </p:txBody>
      </p:sp>
      <p:sp>
        <p:nvSpPr>
          <p:cNvPr id="15" name="txt-6"/>
          <p:cNvSpPr/>
          <p:nvPr/>
        </p:nvSpPr>
        <p:spPr>
          <a:xfrm>
            <a:off x="6095848" y="3846909"/>
            <a:ext cx="4089298" cy="47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local hazard reaction — faster than a blink, no network needed</a:t>
            </a:r>
            <a:endParaRPr lang="en-US" sz="1200" dirty="0"/>
          </a:p>
        </p:txBody>
      </p:sp>
      <p:sp>
        <p:nvSpPr>
          <p:cNvPr id="16" name="txt-7"/>
          <p:cNvSpPr/>
          <p:nvPr/>
        </p:nvSpPr>
        <p:spPr>
          <a:xfrm>
            <a:off x="634984" y="4762500"/>
            <a:ext cx="5317992" cy="768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5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97.7%</a:t>
            </a:r>
            <a:endParaRPr lang="en-US" sz="5500" dirty="0"/>
          </a:p>
        </p:txBody>
      </p:sp>
      <p:sp>
        <p:nvSpPr>
          <p:cNvPr id="17" name="txt-8"/>
          <p:cNvSpPr/>
          <p:nvPr/>
        </p:nvSpPr>
        <p:spPr>
          <a:xfrm>
            <a:off x="634984" y="5527675"/>
            <a:ext cx="4089298" cy="264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intent-routing accuracy across 14 spoken commands</a:t>
            </a:r>
            <a:endParaRPr lang="en-US" sz="1200" dirty="0"/>
          </a:p>
        </p:txBody>
      </p:sp>
      <p:sp>
        <p:nvSpPr>
          <p:cNvPr id="18" name="txt-9"/>
          <p:cNvSpPr/>
          <p:nvPr/>
        </p:nvSpPr>
        <p:spPr>
          <a:xfrm>
            <a:off x="6095848" y="4762500"/>
            <a:ext cx="5324342" cy="768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5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3</a:t>
            </a:r>
            <a:endParaRPr lang="en-US" sz="5500" dirty="0"/>
          </a:p>
        </p:txBody>
      </p:sp>
      <p:sp>
        <p:nvSpPr>
          <p:cNvPr id="19" name="txt-10"/>
          <p:cNvSpPr/>
          <p:nvPr/>
        </p:nvSpPr>
        <p:spPr>
          <a:xfrm>
            <a:off x="6095848" y="5527675"/>
            <a:ext cx="4089298" cy="47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documented SAVH user sessions shaped every major decision</a:t>
            </a:r>
            <a:endParaRPr lang="en-US" sz="1200" dirty="0"/>
          </a:p>
        </p:txBody>
      </p:sp>
      <p:sp>
        <p:nvSpPr>
          <p:cNvPr id="20" name="txt-11"/>
          <p:cNvSpPr/>
          <p:nvPr/>
        </p:nvSpPr>
        <p:spPr>
          <a:xfrm>
            <a:off x="634984" y="6201966"/>
            <a:ext cx="11074123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35F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COST COMPARISON: PUBLISHED PRICING OF ENVISION GLASSES / ORCAM MYEYE, 2026 // INTENT ACCURACY: INTERNAL TEST SET, 14 INTENTS</a:t>
            </a:r>
            <a:endParaRPr lang="en-US" sz="800" dirty="0"/>
          </a:p>
        </p:txBody>
      </p:sp>
      <p:sp>
        <p:nvSpPr>
          <p:cNvPr id="21" name="svg-0"/>
          <p:cNvSpPr/>
          <p:nvPr/>
        </p:nvSpPr>
        <p:spPr>
          <a:xfrm>
            <a:off x="634984" y="2834084"/>
            <a:ext cx="5460863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2" name="svg-1"/>
          <p:cNvSpPr/>
          <p:nvPr/>
        </p:nvSpPr>
        <p:spPr>
          <a:xfrm>
            <a:off x="6095848" y="2834084"/>
            <a:ext cx="0" cy="1680766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3" name="svg-2"/>
          <p:cNvSpPr/>
          <p:nvPr/>
        </p:nvSpPr>
        <p:spPr>
          <a:xfrm>
            <a:off x="6095848" y="2834084"/>
            <a:ext cx="5460863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4" name="svg-3"/>
          <p:cNvSpPr/>
          <p:nvPr/>
        </p:nvSpPr>
        <p:spPr>
          <a:xfrm>
            <a:off x="634984" y="4514850"/>
            <a:ext cx="5460863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5" name="svg-4"/>
          <p:cNvSpPr/>
          <p:nvPr/>
        </p:nvSpPr>
        <p:spPr>
          <a:xfrm>
            <a:off x="6095848" y="4514850"/>
            <a:ext cx="0" cy="1680766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6" name="svg-5"/>
          <p:cNvSpPr/>
          <p:nvPr/>
        </p:nvSpPr>
        <p:spPr>
          <a:xfrm>
            <a:off x="6095848" y="4514850"/>
            <a:ext cx="5460863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  <p:sp>
        <p:nvSpPr>
          <p:cNvPr id="27" name="svg-6"/>
          <p:cNvSpPr/>
          <p:nvPr/>
        </p:nvSpPr>
        <p:spPr>
          <a:xfrm>
            <a:off x="634984" y="6195616"/>
            <a:ext cx="1092172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pg25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2" name="pg25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3" name="pg25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grpSp>
        <p:nvGrpSpPr>
          <p:cNvPr id="1001" name="pg25-Checker-2"/>
          <p:cNvGrpSpPr/>
          <p:nvPr/>
        </p:nvGrpSpPr>
        <p:grpSpPr>
          <a:xfrm>
            <a:off x="10553436" y="5918200"/>
            <a:ext cx="1003275" cy="114300"/>
            <a:chOff x="10553436" y="5918200"/>
            <a:chExt cx="1003275" cy="114300"/>
          </a:xfrm>
        </p:grpSpPr>
        <p:sp>
          <p:nvSpPr>
            <p:cNvPr id="4" name="pg25-Checker-2/decor-1"/>
            <p:cNvSpPr/>
            <p:nvPr/>
          </p:nvSpPr>
          <p:spPr>
            <a:xfrm>
              <a:off x="10553436" y="59182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5" name="pg25-Checker-2/decor-2"/>
            <p:cNvSpPr/>
            <p:nvPr/>
          </p:nvSpPr>
          <p:spPr>
            <a:xfrm>
              <a:off x="10731232" y="59182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  <p:sp>
          <p:nvSpPr>
            <p:cNvPr id="6" name="pg25-Checker-2/decor-3"/>
            <p:cNvSpPr/>
            <p:nvPr/>
          </p:nvSpPr>
          <p:spPr>
            <a:xfrm>
              <a:off x="10909027" y="59182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7" name="pg25-Checker-2/decor-4"/>
            <p:cNvSpPr/>
            <p:nvPr/>
          </p:nvSpPr>
          <p:spPr>
            <a:xfrm>
              <a:off x="11086823" y="59182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  <p:sp>
          <p:nvSpPr>
            <p:cNvPr id="8" name="pg25-Checker-2/decor-5"/>
            <p:cNvSpPr/>
            <p:nvPr/>
          </p:nvSpPr>
          <p:spPr>
            <a:xfrm>
              <a:off x="11264618" y="5918200"/>
              <a:ext cx="114297" cy="114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9" name="pg25-Checker-2/decor-6"/>
            <p:cNvSpPr/>
            <p:nvPr/>
          </p:nvSpPr>
          <p:spPr>
            <a:xfrm>
              <a:off x="11442414" y="5918200"/>
              <a:ext cx="114297" cy="114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F2F2C"/>
              </a:solidFill>
              <a:prstDash val="solid"/>
            </a:ln>
          </p:spPr>
        </p:sp>
      </p:grpSp>
      <p:sp>
        <p:nvSpPr>
          <p:cNvPr id="10" name="pg25-Tag-3/txt-1"/>
          <p:cNvSpPr/>
          <p:nvPr/>
        </p:nvSpPr>
        <p:spPr>
          <a:xfrm>
            <a:off x="634984" y="1016000"/>
            <a:ext cx="586725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ROOMS FOR IMPROVEMENT</a:t>
            </a:r>
            <a:endParaRPr lang="en-US" sz="950" dirty="0"/>
          </a:p>
        </p:txBody>
      </p:sp>
      <p:sp>
        <p:nvSpPr>
          <p:cNvPr id="11" name="pg25-Tag-4/txt-4"/>
          <p:cNvSpPr/>
          <p:nvPr/>
        </p:nvSpPr>
        <p:spPr>
          <a:xfrm>
            <a:off x="6921327" y="2110184"/>
            <a:ext cx="4787780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THE ROADMAP</a:t>
            </a:r>
            <a:endParaRPr lang="en-US" sz="950" dirty="0"/>
          </a:p>
        </p:txBody>
      </p:sp>
      <p:sp>
        <p:nvSpPr>
          <p:cNvPr id="12" name="pg25-Rule-5/decor-7"/>
          <p:cNvSpPr/>
          <p:nvPr/>
        </p:nvSpPr>
        <p:spPr>
          <a:xfrm>
            <a:off x="6921327" y="2402284"/>
            <a:ext cx="4635384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3" name="pg25-Rule-6/decor-8"/>
          <p:cNvSpPr/>
          <p:nvPr/>
        </p:nvSpPr>
        <p:spPr>
          <a:xfrm>
            <a:off x="6921327" y="2936280"/>
            <a:ext cx="4635384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4" name="pg25-Rule-7/decor-9"/>
          <p:cNvSpPr/>
          <p:nvPr/>
        </p:nvSpPr>
        <p:spPr>
          <a:xfrm>
            <a:off x="6921327" y="3470275"/>
            <a:ext cx="4635384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5" name="pg25-Rule-8/decor-10"/>
          <p:cNvSpPr/>
          <p:nvPr/>
        </p:nvSpPr>
        <p:spPr>
          <a:xfrm>
            <a:off x="6921327" y="4004270"/>
            <a:ext cx="4635384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6" name="pg25-Rule-9/decor-11"/>
          <p:cNvSpPr/>
          <p:nvPr/>
        </p:nvSpPr>
        <p:spPr>
          <a:xfrm>
            <a:off x="6921327" y="4538266"/>
            <a:ext cx="4635384" cy="45720"/>
          </a:xfrm>
          <a:prstGeom prst="rect">
            <a:avLst/>
          </a:prstGeom>
          <a:solidFill>
            <a:srgbClr val="2F2F2C"/>
          </a:solidFill>
          <a:ln/>
        </p:spPr>
      </p:sp>
      <p:sp>
        <p:nvSpPr>
          <p:cNvPr id="17" name="txt-2"/>
          <p:cNvSpPr/>
          <p:nvPr/>
        </p:nvSpPr>
        <p:spPr>
          <a:xfrm>
            <a:off x="634984" y="1320800"/>
            <a:ext cx="5959326" cy="1445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55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THIS IS A</a:t>
            </a:r>
            <a:endParaRPr lang="en-US" sz="5500" dirty="0"/>
          </a:p>
          <a:p>
            <a:pPr algn="l" indent="0" marL="0">
              <a:buNone/>
            </a:pPr>
            <a:r>
              <a:rPr lang="en-US" sz="5500" b="1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PROTOTYPE.</a:t>
            </a:r>
            <a:endParaRPr lang="en-US" sz="5500" dirty="0"/>
          </a:p>
        </p:txBody>
      </p:sp>
      <p:sp>
        <p:nvSpPr>
          <p:cNvPr id="18" name="txt-3"/>
          <p:cNvSpPr/>
          <p:nvPr/>
        </p:nvSpPr>
        <p:spPr>
          <a:xfrm>
            <a:off x="634984" y="2915841"/>
            <a:ext cx="5359266" cy="9366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B7E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Cortex is a working prototype — not a finished product. it took student tools, student budgets and student hours. </a:t>
            </a:r>
            <a:pPr algn="l" indent="0" marL="0">
              <a:buNone/>
            </a:pPr>
            <a:r>
              <a:rPr lang="en-US" sz="15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with the right resources, partners and time, Cortex gets better.</a:t>
            </a:r>
            <a:endParaRPr lang="en-US" sz="1500" dirty="0"/>
          </a:p>
        </p:txBody>
      </p:sp>
      <p:sp>
        <p:nvSpPr>
          <p:cNvPr id="19" name="txt-5"/>
          <p:cNvSpPr/>
          <p:nvPr/>
        </p:nvSpPr>
        <p:spPr>
          <a:xfrm>
            <a:off x="6921327" y="2630884"/>
            <a:ext cx="285148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20" name="txt-6"/>
          <p:cNvSpPr/>
          <p:nvPr/>
        </p:nvSpPr>
        <p:spPr>
          <a:xfrm>
            <a:off x="7231874" y="2561034"/>
            <a:ext cx="4398853" cy="27364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 custom single-board computer — smaller, lighter, cooler</a:t>
            </a:r>
            <a:endParaRPr lang="en-US" sz="1300" dirty="0"/>
          </a:p>
        </p:txBody>
      </p:sp>
      <p:sp>
        <p:nvSpPr>
          <p:cNvPr id="21" name="txt-7"/>
          <p:cNvSpPr/>
          <p:nvPr/>
        </p:nvSpPr>
        <p:spPr>
          <a:xfrm>
            <a:off x="6921327" y="3164880"/>
            <a:ext cx="285148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22" name="txt-8"/>
          <p:cNvSpPr/>
          <p:nvPr/>
        </p:nvSpPr>
        <p:spPr>
          <a:xfrm>
            <a:off x="7231874" y="3095030"/>
            <a:ext cx="2923804" cy="27364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longer battery life for a full school day</a:t>
            </a:r>
            <a:endParaRPr lang="en-US" sz="1300" dirty="0"/>
          </a:p>
        </p:txBody>
      </p:sp>
      <p:sp>
        <p:nvSpPr>
          <p:cNvPr id="23" name="txt-9"/>
          <p:cNvSpPr/>
          <p:nvPr/>
        </p:nvSpPr>
        <p:spPr>
          <a:xfrm>
            <a:off x="6921327" y="3698875"/>
            <a:ext cx="285148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03</a:t>
            </a:r>
            <a:endParaRPr lang="en-US" sz="950" dirty="0"/>
          </a:p>
        </p:txBody>
      </p:sp>
      <p:sp>
        <p:nvSpPr>
          <p:cNvPr id="24" name="txt-10"/>
          <p:cNvSpPr/>
          <p:nvPr/>
        </p:nvSpPr>
        <p:spPr>
          <a:xfrm>
            <a:off x="7231874" y="3629025"/>
            <a:ext cx="2960812" cy="27364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fully local navigation, no cloud needed</a:t>
            </a:r>
            <a:endParaRPr lang="en-US" sz="1300" dirty="0"/>
          </a:p>
        </p:txBody>
      </p:sp>
      <p:sp>
        <p:nvSpPr>
          <p:cNvPr id="25" name="txt-11"/>
          <p:cNvSpPr/>
          <p:nvPr/>
        </p:nvSpPr>
        <p:spPr>
          <a:xfrm>
            <a:off x="6921327" y="4232870"/>
            <a:ext cx="285148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xt-12"/>
          <p:cNvSpPr/>
          <p:nvPr/>
        </p:nvSpPr>
        <p:spPr>
          <a:xfrm>
            <a:off x="7231874" y="4163020"/>
            <a:ext cx="2731424" cy="27364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more testing with more SAVH users</a:t>
            </a:r>
            <a:endParaRPr lang="en-US" sz="1300" dirty="0"/>
          </a:p>
        </p:txBody>
      </p:sp>
      <p:sp>
        <p:nvSpPr>
          <p:cNvPr id="27" name="txt-13"/>
          <p:cNvSpPr/>
          <p:nvPr/>
        </p:nvSpPr>
        <p:spPr>
          <a:xfrm>
            <a:off x="6921327" y="4798616"/>
            <a:ext cx="1796608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SUBMISSION // 25 SEP</a:t>
            </a:r>
            <a:endParaRPr lang="en-US" sz="850" dirty="0"/>
          </a:p>
        </p:txBody>
      </p:sp>
      <p:sp>
        <p:nvSpPr>
          <p:cNvPr id="28" name="txt-14"/>
          <p:cNvSpPr/>
          <p:nvPr/>
        </p:nvSpPr>
        <p:spPr>
          <a:xfrm>
            <a:off x="8667136" y="4798616"/>
            <a:ext cx="256821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YOUNG INNOVATORS' FAIR // 6 NOV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15"/>
          <p:cNvSpPr/>
          <p:nvPr/>
        </p:nvSpPr>
        <p:spPr>
          <a:xfrm>
            <a:off x="634984" y="5327650"/>
            <a:ext cx="10921727" cy="8318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grpSp>
        <p:nvGrpSpPr>
          <p:cNvPr id="1000" name="pg26-Chrome-1"/>
          <p:cNvGrpSpPr/>
          <p:nvPr/>
        </p:nvGrpSpPr>
        <p:grpSpPr>
          <a:xfrm>
            <a:off x="634984" y="279400"/>
            <a:ext cx="393690" cy="292100"/>
            <a:chOff x="634984" y="279400"/>
            <a:chExt cx="393690" cy="292100"/>
          </a:xfrm>
        </p:grpSpPr>
        <p:sp>
          <p:nvSpPr>
            <p:cNvPr id="3" name="pg26-Chrome-1/decor-0"/>
            <p:cNvSpPr/>
            <p:nvPr/>
          </p:nvSpPr>
          <p:spPr>
            <a:xfrm>
              <a:off x="634984" y="279400"/>
              <a:ext cx="241294" cy="241300"/>
            </a:xfrm>
            <a:prstGeom prst="rect">
              <a:avLst/>
            </a:prstGeom>
            <a:solidFill>
              <a:srgbClr val="D8E516"/>
            </a:solidFill>
            <a:ln/>
          </p:spPr>
        </p:sp>
        <p:sp>
          <p:nvSpPr>
            <p:cNvPr id="4" name="pg26-Chrome-1/txt-0"/>
            <p:cNvSpPr/>
            <p:nvPr/>
          </p:nvSpPr>
          <p:spPr>
            <a:xfrm>
              <a:off x="634984" y="279400"/>
              <a:ext cx="393690" cy="2921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0A0A08"/>
                  </a:solidFill>
                  <a:latin typeface="Segoe UI" pitchFamily="34" charset="0"/>
                  <a:ea typeface="Microsoft JhengHei" pitchFamily="34" charset="-122"/>
                  <a:cs typeface="Segoe UI" pitchFamily="34" charset="-120"/>
                </a:rPr>
                <a:t>A</a:t>
              </a:r>
              <a:endParaRPr lang="en-US" sz="1200" dirty="0"/>
            </a:p>
          </p:txBody>
        </p:sp>
      </p:grp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920927" cy="2667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27237" cy="22733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33547" cy="18796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39857" cy="14859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46166" cy="1092200"/>
          </a:xfrm>
          <a:prstGeom prst="rect">
            <a:avLst/>
          </a:prstGeom>
        </p:spPr>
      </p:pic>
      <p:pic>
        <p:nvPicPr>
          <p:cNvPr id="10" name="primimg:pg26-Halftone-3:primimg-0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70768" y="5207000"/>
            <a:ext cx="2285943" cy="762000"/>
          </a:xfrm>
          <a:prstGeom prst="rect">
            <a:avLst/>
          </a:prstGeom>
        </p:spPr>
      </p:pic>
      <p:sp>
        <p:nvSpPr>
          <p:cNvPr id="11" name="pg26-Tag-4/txt-1"/>
          <p:cNvSpPr/>
          <p:nvPr/>
        </p:nvSpPr>
        <p:spPr>
          <a:xfrm>
            <a:off x="634984" y="952500"/>
            <a:ext cx="11074123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// THE WHOLE LOOP, IN ONE SENTENCE</a:t>
            </a:r>
            <a:endParaRPr lang="en-US" sz="950" dirty="0"/>
          </a:p>
        </p:txBody>
      </p:sp>
      <p:grpSp>
        <p:nvGrpSpPr>
          <p:cNvPr id="1001" name="pg26-LoopRail-5"/>
          <p:cNvGrpSpPr/>
          <p:nvPr/>
        </p:nvGrpSpPr>
        <p:grpSpPr>
          <a:xfrm>
            <a:off x="634984" y="4311650"/>
            <a:ext cx="11074123" cy="933450"/>
            <a:chOff x="634984" y="4311650"/>
            <a:chExt cx="11074123" cy="933450"/>
          </a:xfrm>
        </p:grpSpPr>
        <p:sp>
          <p:nvSpPr>
            <p:cNvPr id="12" name="pg26-LoopRail-5/decor-6"/>
            <p:cNvSpPr/>
            <p:nvPr/>
          </p:nvSpPr>
          <p:spPr>
            <a:xfrm>
              <a:off x="1206470" y="4483100"/>
              <a:ext cx="9778756" cy="45720"/>
            </a:xfrm>
            <a:prstGeom prst="rect">
              <a:avLst/>
            </a:prstGeom>
            <a:solidFill>
              <a:srgbClr val="2F2F2C"/>
            </a:solidFill>
            <a:ln/>
          </p:spPr>
        </p:sp>
        <p:sp>
          <p:nvSpPr>
            <p:cNvPr id="13" name="pg26-LoopRail-5/decor-7"/>
            <p:cNvSpPr/>
            <p:nvPr/>
          </p:nvSpPr>
          <p:spPr>
            <a:xfrm>
              <a:off x="1092173" y="431165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4" name="pg26-LoopRail-5/decor-8"/>
            <p:cNvSpPr/>
            <p:nvPr/>
          </p:nvSpPr>
          <p:spPr>
            <a:xfrm>
              <a:off x="3022524" y="431165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5" name="pg26-LoopRail-5/decor-9"/>
            <p:cNvSpPr/>
            <p:nvPr/>
          </p:nvSpPr>
          <p:spPr>
            <a:xfrm>
              <a:off x="4952876" y="431165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6" name="pg26-LoopRail-5/decor-10"/>
            <p:cNvSpPr/>
            <p:nvPr/>
          </p:nvSpPr>
          <p:spPr>
            <a:xfrm>
              <a:off x="6883228" y="431165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7" name="pg26-LoopRail-5/decor-11"/>
            <p:cNvSpPr/>
            <p:nvPr/>
          </p:nvSpPr>
          <p:spPr>
            <a:xfrm>
              <a:off x="8813580" y="431165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2B2D0A"/>
            </a:solidFill>
            <a:ln w="25400">
              <a:solidFill>
                <a:srgbClr val="71780F"/>
              </a:solidFill>
              <a:prstDash val="solid"/>
            </a:ln>
          </p:spPr>
        </p:sp>
        <p:sp>
          <p:nvSpPr>
            <p:cNvPr id="18" name="pg26-LoopRail-5/decor-12"/>
            <p:cNvSpPr/>
            <p:nvPr/>
          </p:nvSpPr>
          <p:spPr>
            <a:xfrm>
              <a:off x="10743931" y="4311650"/>
              <a:ext cx="355591" cy="355600"/>
            </a:xfrm>
            <a:prstGeom prst="roundRect">
              <a:avLst>
                <a:gd name="adj" fmla="val 50000"/>
              </a:avLst>
            </a:prstGeom>
            <a:solidFill>
              <a:srgbClr val="D8E516"/>
            </a:solidFill>
            <a:ln w="25400">
              <a:solidFill>
                <a:srgbClr val="D8E516"/>
              </a:solidFill>
              <a:prstDash val="solid"/>
            </a:ln>
          </p:spPr>
        </p:sp>
        <p:sp>
          <p:nvSpPr>
            <p:cNvPr id="19" name="pg26-LoopRail-5/decor-13"/>
            <p:cNvSpPr/>
            <p:nvPr/>
          </p:nvSpPr>
          <p:spPr>
            <a:xfrm>
              <a:off x="1206470" y="4660900"/>
              <a:ext cx="9778756" cy="330200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20" name="pg26-LoopRail-5/decor-14"/>
            <p:cNvSpPr/>
            <p:nvPr/>
          </p:nvSpPr>
          <p:spPr>
            <a:xfrm>
              <a:off x="1130272" y="4565650"/>
              <a:ext cx="88898" cy="101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/>
          </p:spPr>
        </p:sp>
        <p:sp>
          <p:nvSpPr>
            <p:cNvPr id="21" name="pg26-LoopRail-5/txt-3"/>
            <p:cNvSpPr/>
            <p:nvPr/>
          </p:nvSpPr>
          <p:spPr>
            <a:xfrm>
              <a:off x="1092173" y="431165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22" name="pg26-LoopRail-5/txt-4"/>
            <p:cNvSpPr/>
            <p:nvPr/>
          </p:nvSpPr>
          <p:spPr>
            <a:xfrm>
              <a:off x="3022524" y="431165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23" name="pg26-LoopRail-5/txt-5"/>
            <p:cNvSpPr/>
            <p:nvPr/>
          </p:nvSpPr>
          <p:spPr>
            <a:xfrm>
              <a:off x="4952876" y="431165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24" name="pg26-LoopRail-5/txt-6"/>
            <p:cNvSpPr/>
            <p:nvPr/>
          </p:nvSpPr>
          <p:spPr>
            <a:xfrm>
              <a:off x="6883228" y="431165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25" name="pg26-LoopRail-5/txt-7"/>
            <p:cNvSpPr/>
            <p:nvPr/>
          </p:nvSpPr>
          <p:spPr>
            <a:xfrm>
              <a:off x="8813580" y="431165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D8E516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26" name="pg26-LoopRail-5/txt-8"/>
            <p:cNvSpPr/>
            <p:nvPr/>
          </p:nvSpPr>
          <p:spPr>
            <a:xfrm>
              <a:off x="10743931" y="4311650"/>
              <a:ext cx="507987" cy="40640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A0A08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06</a:t>
              </a:r>
              <a:endParaRPr lang="en-US" sz="1000" dirty="0"/>
            </a:p>
          </p:txBody>
        </p:sp>
        <p:sp>
          <p:nvSpPr>
            <p:cNvPr id="27" name="pg26-LoopRail-5/txt-9"/>
            <p:cNvSpPr/>
            <p:nvPr/>
          </p:nvSpPr>
          <p:spPr>
            <a:xfrm>
              <a:off x="634984" y="5060950"/>
              <a:ext cx="11074123" cy="184150"/>
            </a:xfrm>
            <a:prstGeom prst="rect">
              <a:avLst/>
            </a:prstGeom>
            <a:noFill/>
            <a:ln/>
          </p:spPr>
          <p:txBody>
            <a:bodyPr wrap="square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63635F"/>
                  </a:solidFill>
                  <a:latin typeface="JetBrains Mono" pitchFamily="34" charset="0"/>
                  <a:ea typeface="Microsoft JhengHei" pitchFamily="34" charset="-122"/>
                  <a:cs typeface="JetBrains Mono" pitchFamily="34" charset="-120"/>
                </a:rPr>
                <a:t>EVERY TEST LOOPS BACK — WE ITERATE</a:t>
              </a:r>
              <a:endParaRPr lang="en-US" sz="800" dirty="0"/>
            </a:p>
          </p:txBody>
        </p:sp>
        <p:sp>
          <p:nvSpPr>
            <p:cNvPr id="28" name="pg26-LoopRail-5/svg-0"/>
            <p:cNvSpPr/>
            <p:nvPr/>
          </p:nvSpPr>
          <p:spPr>
            <a:xfrm>
              <a:off x="10985225" y="466090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29" name="pg26-LoopRail-5/svg-1"/>
            <p:cNvSpPr/>
            <p:nvPr/>
          </p:nvSpPr>
          <p:spPr>
            <a:xfrm>
              <a:off x="1206470" y="4991100"/>
              <a:ext cx="9778756" cy="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30" name="pg26-LoopRail-5/svg-2"/>
            <p:cNvSpPr/>
            <p:nvPr/>
          </p:nvSpPr>
          <p:spPr>
            <a:xfrm>
              <a:off x="1206470" y="4660900"/>
              <a:ext cx="0" cy="330200"/>
            </a:xfrm>
            <a:prstGeom prst="line">
              <a:avLst/>
            </a:prstGeom>
            <a:ln w="25400">
              <a:solidFill>
                <a:srgbClr val="2F2F2C"/>
              </a:solidFill>
              <a:prstDash val="solid"/>
            </a:ln>
          </p:spPr>
        </p:sp>
        <p:sp>
          <p:nvSpPr>
            <p:cNvPr id="31" name="pg26-LoopRail-5/svg-3"/>
            <p:cNvSpPr/>
            <p:nvPr/>
          </p:nvSpPr>
          <p:spPr>
            <a:xfrm>
              <a:off x="1219170" y="456565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  <p:sp>
          <p:nvSpPr>
            <p:cNvPr id="32" name="pg26-LoopRail-5/svg-4"/>
            <p:cNvSpPr/>
            <p:nvPr/>
          </p:nvSpPr>
          <p:spPr>
            <a:xfrm>
              <a:off x="1130272" y="4667250"/>
              <a:ext cx="88898" cy="0"/>
            </a:xfrm>
            <a:prstGeom prst="line">
              <a:avLst/>
            </a:prstGeom>
            <a:ln w="203200">
              <a:solidFill>
                <a:srgbClr val="2F2F2C"/>
              </a:solidFill>
              <a:prstDash val="solid"/>
            </a:ln>
          </p:spPr>
        </p:sp>
        <p:sp>
          <p:nvSpPr>
            <p:cNvPr id="33" name="pg26-LoopRail-5/svg-5"/>
            <p:cNvSpPr/>
            <p:nvPr/>
          </p:nvSpPr>
          <p:spPr>
            <a:xfrm>
              <a:off x="1130272" y="4565650"/>
              <a:ext cx="0" cy="101600"/>
            </a:xfrm>
            <a:prstGeom prst="line">
              <a:avLst/>
            </a:prstGeom>
            <a:ln w="88900">
              <a:solidFill>
                <a:srgbClr val="0A0A08"/>
              </a:solidFill>
              <a:prstDash val="solid"/>
            </a:ln>
          </p:spPr>
        </p:sp>
      </p:grpSp>
      <p:sp>
        <p:nvSpPr>
          <p:cNvPr id="34" name="txt-2"/>
          <p:cNvSpPr/>
          <p:nvPr/>
        </p:nvSpPr>
        <p:spPr>
          <a:xfrm>
            <a:off x="634984" y="1320800"/>
            <a:ext cx="10500097" cy="19931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CORTEX FILLS WHAT THE CANE CANNOT FEEL — </a:t>
            </a:r>
            <a:pPr algn="l" indent="0" marL="0">
              <a:buNone/>
            </a:pPr>
            <a:r>
              <a:rPr lang="en-US" sz="48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NAVIGATION THAT IS HANDS-FREE, AFFORDABLE AND DIGNIFIED.</a:t>
            </a:r>
            <a:endParaRPr lang="en-US" sz="4800" dirty="0"/>
          </a:p>
        </p:txBody>
      </p:sp>
      <p:sp>
        <p:nvSpPr>
          <p:cNvPr id="35" name="txt-10"/>
          <p:cNvSpPr/>
          <p:nvPr/>
        </p:nvSpPr>
        <p:spPr>
          <a:xfrm>
            <a:off x="634984" y="5524500"/>
            <a:ext cx="5864475" cy="4819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4F4EC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ASIRIVE // </a:t>
            </a:r>
            <a:pPr algn="l" indent="0" marL="0">
              <a:buNone/>
            </a:pPr>
            <a:r>
              <a:rPr lang="en-US" sz="3300" dirty="0">
                <a:solidFill>
                  <a:srgbClr val="D8E516"/>
                </a:solidFill>
                <a:latin typeface="Segoe UI" pitchFamily="34" charset="0"/>
                <a:ea typeface="Microsoft JhengHei" pitchFamily="34" charset="-122"/>
                <a:cs typeface="Segoe UI" pitchFamily="34" charset="-120"/>
              </a:rPr>
              <a:t>CORTEX</a:t>
            </a:r>
            <a:endParaRPr lang="en-US" sz="3300" dirty="0"/>
          </a:p>
        </p:txBody>
      </p:sp>
      <p:sp>
        <p:nvSpPr>
          <p:cNvPr id="36" name="txt-11"/>
          <p:cNvSpPr/>
          <p:nvPr/>
        </p:nvSpPr>
        <p:spPr>
          <a:xfrm>
            <a:off x="634984" y="6032500"/>
            <a:ext cx="5864475" cy="17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B7E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HAZIQ SHAH · MUHAMMAD IRFAN NUAFAL · ERYNA NATASHA — ADMIRALTY SECONDARY SCHOOL</a:t>
            </a:r>
            <a:endParaRPr lang="en-US" sz="850" dirty="0"/>
          </a:p>
        </p:txBody>
      </p:sp>
      <p:sp>
        <p:nvSpPr>
          <p:cNvPr id="37" name="txt-12"/>
          <p:cNvSpPr/>
          <p:nvPr/>
        </p:nvSpPr>
        <p:spPr>
          <a:xfrm>
            <a:off x="10689362" y="6019800"/>
            <a:ext cx="1019745" cy="190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E516"/>
                </a:solidFill>
                <a:latin typeface="JetBrains Mono" pitchFamily="34" charset="0"/>
                <a:ea typeface="Microsoft JhengHei" pitchFamily="34" charset="-122"/>
                <a:cs typeface="JetBrains Mono" pitchFamily="34" charset="-120"/>
              </a:rPr>
              <a:t>ASIRIVE.COM</a:t>
            </a:r>
            <a:endParaRPr lang="en-US" sz="900" dirty="0"/>
          </a:p>
        </p:txBody>
      </p:sp>
      <p:sp>
        <p:nvSpPr>
          <p:cNvPr id="38" name="svg-6"/>
          <p:cNvSpPr/>
          <p:nvPr/>
        </p:nvSpPr>
        <p:spPr>
          <a:xfrm>
            <a:off x="634984" y="5327650"/>
            <a:ext cx="10921727" cy="0"/>
          </a:xfrm>
          <a:prstGeom prst="line">
            <a:avLst/>
          </a:prstGeom>
          <a:ln w="12700">
            <a:solidFill>
              <a:srgbClr val="2F2F2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2026-08-31T20:11:48Z</dcterms:created>
  <dcterms:modified xsi:type="dcterms:W3CDTF">2026-08-31T20:11:48Z</dcterms:modified>
</cp:coreProperties>
</file>